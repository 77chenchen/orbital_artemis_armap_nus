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26000" cy="68580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0000" y="1080000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0000" y="1565999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0000" y="2052000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0000" y="2538000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0000" y="3024000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0000" y="3510000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0000" y="3996000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0000" y="4482000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0000" y="4968000"/>
            <a:ext cx="2700000" cy="0"/>
          </a:xfrm>
          <a:prstGeom prst="line">
            <a:avLst/>
          </a:prstGeom>
          <a:ln w="8890">
            <a:solidFill>
              <a:srgbClr val="34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20000" y="1134000"/>
            <a:ext cx="151200" cy="151200"/>
          </a:xfrm>
          <a:prstGeom prst="ellipse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88000" y="1620000"/>
            <a:ext cx="151200" cy="15120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96000" y="2106000"/>
            <a:ext cx="151200" cy="151200"/>
          </a:xfrm>
          <a:prstGeom prst="ellipse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20000" y="2592000"/>
            <a:ext cx="151200" cy="151200"/>
          </a:xfrm>
          <a:prstGeom prst="ellipse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6000" y="3078000"/>
            <a:ext cx="151200" cy="151200"/>
          </a:xfrm>
          <a:prstGeom prst="ellipse">
            <a:avLst/>
          </a:prstGeom>
          <a:solidFill>
            <a:srgbClr val="74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04000" y="3564000"/>
            <a:ext cx="151200" cy="151200"/>
          </a:xfrm>
          <a:prstGeom prst="ellipse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12000" y="4050000"/>
            <a:ext cx="151200" cy="151200"/>
          </a:xfrm>
          <a:prstGeom prst="ellipse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403200"/>
            <a:ext cx="2088000" cy="19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solidFill>
                  <a:srgbClr val="CBDEEF"/>
                </a:solidFill>
                <a:latin typeface="PingFang SC"/>
              </a:rPr>
              <a:t>技术综述 / 研究汇报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0" y="1475999"/>
            <a:ext cx="6768000" cy="864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95000"/>
              </a:lnSpc>
            </a:pPr>
            <a:r>
              <a:rPr sz="3600" b="1">
                <a:solidFill>
                  <a:srgbClr val="12202F"/>
                </a:solidFill>
                <a:latin typeface="PingFang SC"/>
              </a:rPr>
              <a:t>基于 LLM 的</a:t>
            </a:r>
            <a:br/>
            <a:r>
              <a:rPr sz="3600" b="1">
                <a:solidFill>
                  <a:srgbClr val="12202F"/>
                </a:solidFill>
                <a:latin typeface="PingFang SC"/>
              </a:rPr>
              <a:t>Text-to-SQL 技术演进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8000" y="2610000"/>
            <a:ext cx="6300000" cy="33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800" b="1">
                <a:solidFill>
                  <a:srgbClr val="246BC9"/>
                </a:solidFill>
                <a:latin typeface="PingFang SC"/>
              </a:rPr>
              <a:t>从模式映射到 Schema Linking 的深度解析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8000" y="3240000"/>
            <a:ext cx="6372000" cy="432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0">
                <a:solidFill>
                  <a:srgbClr val="5B6876"/>
                </a:solidFill>
                <a:latin typeface="PingFang SC"/>
              </a:rPr>
              <a:t>核心判断：Text-to-SQL 的瓶颈已经从“会不会写 SQL”转向“能否把自然语言意图稳定绑定到正确的数据语义”。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4086000"/>
            <a:ext cx="1655999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6000" y="4186800"/>
            <a:ext cx="147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46BC9"/>
                </a:solidFill>
                <a:latin typeface="PingFang SC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4000" y="4525200"/>
            <a:ext cx="143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页内容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8000" y="4086000"/>
            <a:ext cx="1655999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8000" y="4186800"/>
            <a:ext cx="147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328F60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6000" y="4525200"/>
            <a:ext cx="143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技术阶段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0" y="4086000"/>
            <a:ext cx="1655999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000" y="4186800"/>
            <a:ext cx="147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DA972D"/>
                </a:solidFill>
                <a:latin typeface="PingFang SC"/>
              </a:rPr>
              <a:t>10+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000" y="4525200"/>
            <a:ext cx="143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代表论文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02000" y="4086000"/>
            <a:ext cx="1655999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92000" y="4186800"/>
            <a:ext cx="147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745BBD"/>
                </a:solidFill>
                <a:latin typeface="PingFang SC"/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0000" y="4525200"/>
            <a:ext cx="143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资料整理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6000" y="5526000"/>
            <a:ext cx="5400000" cy="216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solidFill>
                  <a:srgbClr val="828F9C"/>
                </a:solidFill>
                <a:latin typeface="PingFang SC"/>
              </a:rPr>
              <a:t>适合课程展示、组会汇报与技术方案讨论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资料来源：公开论文、benchmark 页面与作者项目页；详细清单见末页。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核心观点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一页结论：Text-to-SQL 的主线不是“生成”，而是“对齐”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98000"/>
            <a:ext cx="10656000" cy="306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0">
                <a:solidFill>
                  <a:srgbClr val="5B6876"/>
                </a:solidFill>
                <a:latin typeface="PingFang SC"/>
              </a:rPr>
              <a:t>把自然语言变成 SQL 只是表象；真正困难的是在开放、异构、含业务语义的数据库中，把“词、值、列、表、关系、约束”绑定为可执行、可解释的查询计划。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674000"/>
            <a:ext cx="2574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000" y="1674000"/>
            <a:ext cx="43200" cy="1655999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200" y="1796400"/>
            <a:ext cx="231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60" b="1">
                <a:solidFill>
                  <a:srgbClr val="12202F"/>
                </a:solidFill>
                <a:latin typeface="PingFang SC"/>
              </a:rPr>
              <a:t>阶段 1：模式映射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" y="2077200"/>
            <a:ext cx="2314800" cy="1195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通过字符串匹配、同义词词典、实体识别，把问题中的词映射到列名、表名或枚举值。可解释，但脆弱。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6000" y="1674000"/>
            <a:ext cx="2574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6000" y="1674000"/>
            <a:ext cx="43200" cy="1655999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7200" y="1796400"/>
            <a:ext cx="231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60" b="1">
                <a:solidFill>
                  <a:srgbClr val="12202F"/>
                </a:solidFill>
                <a:latin typeface="PingFang SC"/>
              </a:rPr>
              <a:t>阶段 2：结构化解码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7200" y="2077200"/>
            <a:ext cx="2314800" cy="1195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Seq2Seq 之外，开始利用 SQL sketch、语法约束和列注意力，降低 SQL 表达的排列歧义。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6000" y="1674000"/>
            <a:ext cx="2574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6000" y="1674000"/>
            <a:ext cx="43200" cy="1655999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200" y="1796400"/>
            <a:ext cx="231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60" b="1">
                <a:solidFill>
                  <a:srgbClr val="12202F"/>
                </a:solidFill>
                <a:latin typeface="PingFang SC"/>
              </a:rPr>
              <a:t>阶段 3：显式 Schema Linking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200" y="2077200"/>
            <a:ext cx="2314800" cy="1195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将数据库 schema 视为图，建模表-列、外键、问题 token 与 schema item 的关系。RAT-SQL 是关键里程碑。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56000" y="1674000"/>
            <a:ext cx="2574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56000" y="1674000"/>
            <a:ext cx="43200" cy="1655999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7200" y="1796400"/>
            <a:ext cx="231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60" b="1">
                <a:solidFill>
                  <a:srgbClr val="12202F"/>
                </a:solidFill>
                <a:latin typeface="PingFang SC"/>
              </a:rPr>
              <a:t>阶段 4：LLM 系统工程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7200" y="2077200"/>
            <a:ext cx="2314800" cy="1195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LLM 负责语义推理与候选生成，系统负责检索、裁剪、约束、执行验证和人类反馈。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" y="3798000"/>
            <a:ext cx="3096000" cy="251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800" b="1">
                <a:solidFill>
                  <a:srgbClr val="12202F"/>
                </a:solidFill>
                <a:latin typeface="PingFang SC"/>
              </a:rPr>
              <a:t>我的判断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6000" y="4158000"/>
            <a:ext cx="11088000" cy="1548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6000" y="4158000"/>
            <a:ext cx="43200" cy="1548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200" y="4280400"/>
            <a:ext cx="1082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12202F"/>
                </a:solidFill>
                <a:latin typeface="PingFang SC"/>
              </a:rPr>
              <a:t>Schema Linking 是 Text-to-SQL 的“语义路由层”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200" y="4561200"/>
            <a:ext cx="10828800" cy="10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420" b="0">
                <a:solidFill>
                  <a:srgbClr val="5B6876"/>
                </a:solidFill>
                <a:latin typeface="PingFang SC"/>
              </a:rPr>
              <a:t>在小 schema 上，强模型可以直接把 SQL 写出来；在企业级数据库中，LLM 的上下文、幻觉、业务口径冲突会放大。可靠系统必须先缩小候选 schema、补足值证据、显式记录链接证据，再让模型生成 SQL。换言之，Schema Linking 不再只是模型内部特征，而是可观测、可调试、可治理的工程组件。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从概念到落地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汇报结构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6000" y="1170000"/>
            <a:ext cx="475200" cy="47520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2800" y="1285200"/>
            <a:ext cx="378000" cy="144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000" y="1180800"/>
            <a:ext cx="288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2202F"/>
                </a:solidFill>
                <a:latin typeface="PingFang SC"/>
              </a:rPr>
              <a:t>问题定义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000" y="1443600"/>
            <a:ext cx="8928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40" b="0">
                <a:solidFill>
                  <a:srgbClr val="5B6876"/>
                </a:solidFill>
                <a:latin typeface="PingFang SC"/>
              </a:rPr>
              <a:t>Text-to-SQL 为什么难：自然语言、数据库结构、业务语义三方不一致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3599" y="1652400"/>
            <a:ext cx="0" cy="338399"/>
          </a:xfrm>
          <a:prstGeom prst="line">
            <a:avLst/>
          </a:prstGeom>
          <a:ln w="15240">
            <a:solidFill>
              <a:srgbClr val="B7C6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86000" y="2088000"/>
            <a:ext cx="475200" cy="475200"/>
          </a:xfrm>
          <a:prstGeom prst="ellipse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800" y="2203200"/>
            <a:ext cx="378000" cy="144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" y="2098800"/>
            <a:ext cx="288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2202F"/>
                </a:solidFill>
                <a:latin typeface="PingFang SC"/>
              </a:rPr>
              <a:t>技术演进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8000" y="2361600"/>
            <a:ext cx="8928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40" b="0">
                <a:solidFill>
                  <a:srgbClr val="5B6876"/>
                </a:solidFill>
                <a:latin typeface="PingFang SC"/>
              </a:rPr>
              <a:t>从模板/语义解析、WikiSQL、Spider，到 RAT-SQL 和预训练模型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3599" y="2570400"/>
            <a:ext cx="0" cy="338399"/>
          </a:xfrm>
          <a:prstGeom prst="line">
            <a:avLst/>
          </a:prstGeom>
          <a:ln w="15240">
            <a:solidFill>
              <a:srgbClr val="B7C6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86000" y="3006000"/>
            <a:ext cx="475200" cy="475200"/>
          </a:xfrm>
          <a:prstGeom prst="ellipse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800" y="3121200"/>
            <a:ext cx="378000" cy="144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000" y="3016800"/>
            <a:ext cx="288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2202F"/>
                </a:solidFill>
                <a:latin typeface="PingFang SC"/>
              </a:rPr>
              <a:t>Schema Linking 深挖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" y="3279600"/>
            <a:ext cx="8928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40" b="0">
                <a:solidFill>
                  <a:srgbClr val="5B6876"/>
                </a:solidFill>
                <a:latin typeface="PingFang SC"/>
              </a:rPr>
              <a:t>链接对象、链接粒度、图关系、值证据与错误类型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3599" y="3488400"/>
            <a:ext cx="0" cy="338399"/>
          </a:xfrm>
          <a:prstGeom prst="line">
            <a:avLst/>
          </a:prstGeom>
          <a:ln w="15240">
            <a:solidFill>
              <a:srgbClr val="B7C6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86000" y="3923999"/>
            <a:ext cx="475200" cy="475200"/>
          </a:xfrm>
          <a:prstGeom prst="ellipse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800" y="4039199"/>
            <a:ext cx="378000" cy="144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" y="3934799"/>
            <a:ext cx="288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2202F"/>
                </a:solidFill>
                <a:latin typeface="PingFang SC"/>
              </a:rPr>
              <a:t>LLM 时代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000" y="4197599"/>
            <a:ext cx="8928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40" b="0">
                <a:solidFill>
                  <a:srgbClr val="5B6876"/>
                </a:solidFill>
                <a:latin typeface="PingFang SC"/>
              </a:rPr>
              <a:t>Prompt、RAG、schema pruning、多候选、执行反馈和 agent workflow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3599" y="4406399"/>
            <a:ext cx="0" cy="338399"/>
          </a:xfrm>
          <a:prstGeom prst="line">
            <a:avLst/>
          </a:prstGeom>
          <a:ln w="15240">
            <a:solidFill>
              <a:srgbClr val="B7C6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6000" y="4842000"/>
            <a:ext cx="475200" cy="475200"/>
          </a:xfrm>
          <a:prstGeom prst="ellipse">
            <a:avLst/>
          </a:prstGeom>
          <a:solidFill>
            <a:srgbClr val="74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800" y="4957200"/>
            <a:ext cx="378000" cy="144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000" y="4852800"/>
            <a:ext cx="288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solidFill>
                  <a:srgbClr val="12202F"/>
                </a:solidFill>
                <a:latin typeface="PingFang SC"/>
              </a:rPr>
              <a:t>评测与落地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8000" y="5115600"/>
            <a:ext cx="8928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40" b="0">
                <a:solidFill>
                  <a:srgbClr val="5B6876"/>
                </a:solidFill>
                <a:latin typeface="PingFang SC"/>
              </a:rPr>
              <a:t>Spider/BIRD/Spider 2.0 的差异，以及生产系统设计原则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32000" y="1170000"/>
            <a:ext cx="2951999" cy="3816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32000" y="1170000"/>
            <a:ext cx="43200" cy="3816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3200" y="1292400"/>
            <a:ext cx="269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贯穿问题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3200" y="1573200"/>
            <a:ext cx="2692799" cy="335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同一句话中的“最高分课程”“活跃用户”“去年同期”在不同数据库里可能对应完全不同的字段、过滤条件、聚合口径和时间维度。Text-to-SQL 的最终目标不是生成看起来正确的 SQL，而是生成与业务语义一致、可验证、可复用的查询。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Historical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技术演进时间线：每一次进步都在减少“语义漂移”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20000" y="2880000"/>
            <a:ext cx="10440000" cy="0"/>
          </a:xfrm>
          <a:prstGeom prst="line">
            <a:avLst/>
          </a:prstGeom>
          <a:ln w="25400">
            <a:solidFill>
              <a:srgbClr val="B4C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04800" y="2764800"/>
            <a:ext cx="230400" cy="230400"/>
          </a:xfrm>
          <a:prstGeom prst="ellipse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90000" y="1458000"/>
            <a:ext cx="162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规则/模板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0000" y="1800000"/>
            <a:ext cx="1620000" cy="450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B6876"/>
                </a:solidFill>
                <a:latin typeface="PingFang SC"/>
              </a:rPr>
              <a:t>固定领域</a:t>
            </a:r>
            <a:br/>
            <a:r>
              <a:rPr sz="1150" b="0">
                <a:solidFill>
                  <a:srgbClr val="5B6876"/>
                </a:solidFill>
                <a:latin typeface="PingFang SC"/>
              </a:rPr>
              <a:t>词典映射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0000" y="2358000"/>
            <a:ext cx="0" cy="385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0000" y="3016800"/>
            <a:ext cx="0" cy="637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-126000" y="3761999"/>
            <a:ext cx="1692000" cy="413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10" b="1">
                <a:solidFill>
                  <a:srgbClr val="242B34"/>
                </a:solidFill>
                <a:latin typeface="PingFang SC"/>
              </a:rPr>
              <a:t>可控但难扩展</a:t>
            </a:r>
          </a:p>
        </p:txBody>
      </p:sp>
      <p:sp>
        <p:nvSpPr>
          <p:cNvPr id="12" name="Oval 11"/>
          <p:cNvSpPr/>
          <p:nvPr/>
        </p:nvSpPr>
        <p:spPr>
          <a:xfrm>
            <a:off x="2674800" y="2764800"/>
            <a:ext cx="230400" cy="230400"/>
          </a:xfrm>
          <a:prstGeom prst="ellipse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0000" y="1458000"/>
            <a:ext cx="162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WikiSQL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0000" y="1800000"/>
            <a:ext cx="1620000" cy="450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B6876"/>
                </a:solidFill>
                <a:latin typeface="PingFang SC"/>
              </a:rPr>
              <a:t>单表大规模</a:t>
            </a:r>
            <a:br/>
            <a:r>
              <a:rPr sz="1150" b="0">
                <a:solidFill>
                  <a:srgbClr val="5B6876"/>
                </a:solidFill>
                <a:latin typeface="PingFang SC"/>
              </a:rPr>
              <a:t>结构化解码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90000" y="2358000"/>
            <a:ext cx="0" cy="385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90000" y="3016800"/>
            <a:ext cx="0" cy="637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44000" y="3761999"/>
            <a:ext cx="1692000" cy="413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10" b="1">
                <a:solidFill>
                  <a:srgbClr val="242B34"/>
                </a:solidFill>
                <a:latin typeface="PingFang SC"/>
              </a:rPr>
              <a:t>降低 SQL 语法噪声</a:t>
            </a:r>
          </a:p>
        </p:txBody>
      </p:sp>
      <p:sp>
        <p:nvSpPr>
          <p:cNvPr id="18" name="Oval 17"/>
          <p:cNvSpPr/>
          <p:nvPr/>
        </p:nvSpPr>
        <p:spPr>
          <a:xfrm>
            <a:off x="4744800" y="2764800"/>
            <a:ext cx="230400" cy="230400"/>
          </a:xfrm>
          <a:prstGeom prst="ellipse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0000" y="1458000"/>
            <a:ext cx="162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Spider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000" y="1800000"/>
            <a:ext cx="1620000" cy="450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B6876"/>
                </a:solidFill>
                <a:latin typeface="PingFang SC"/>
              </a:rPr>
              <a:t>跨域多表</a:t>
            </a:r>
            <a:br/>
            <a:r>
              <a:rPr sz="1150" b="0">
                <a:solidFill>
                  <a:srgbClr val="5B6876"/>
                </a:solidFill>
                <a:latin typeface="PingFang SC"/>
              </a:rPr>
              <a:t>复杂 SQL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60000" y="2358000"/>
            <a:ext cx="0" cy="385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60000" y="3016800"/>
            <a:ext cx="0" cy="637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14000" y="3761999"/>
            <a:ext cx="1692000" cy="413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10" b="1">
                <a:solidFill>
                  <a:srgbClr val="242B34"/>
                </a:solidFill>
                <a:latin typeface="PingFang SC"/>
              </a:rPr>
              <a:t>Schema 泛化成为核心</a:t>
            </a:r>
          </a:p>
        </p:txBody>
      </p:sp>
      <p:sp>
        <p:nvSpPr>
          <p:cNvPr id="24" name="Oval 23"/>
          <p:cNvSpPr/>
          <p:nvPr/>
        </p:nvSpPr>
        <p:spPr>
          <a:xfrm>
            <a:off x="6814800" y="2764800"/>
            <a:ext cx="230400" cy="230400"/>
          </a:xfrm>
          <a:prstGeom prst="ellipse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0000" y="1458000"/>
            <a:ext cx="162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RAT-SQL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0000" y="1800000"/>
            <a:ext cx="1620000" cy="450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B6876"/>
                </a:solidFill>
                <a:latin typeface="PingFang SC"/>
              </a:rPr>
              <a:t>关系感知图</a:t>
            </a:r>
            <a:br/>
            <a:r>
              <a:rPr sz="1150" b="0">
                <a:solidFill>
                  <a:srgbClr val="5B6876"/>
                </a:solidFill>
                <a:latin typeface="PingFang SC"/>
              </a:rPr>
              <a:t>显式 linking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30000" y="2358000"/>
            <a:ext cx="0" cy="385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30000" y="3016800"/>
            <a:ext cx="0" cy="637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4000" y="3761999"/>
            <a:ext cx="1692000" cy="413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10" b="1">
                <a:solidFill>
                  <a:srgbClr val="242B34"/>
                </a:solidFill>
                <a:latin typeface="PingFang SC"/>
              </a:rPr>
              <a:t>链接被结构化建模</a:t>
            </a:r>
          </a:p>
        </p:txBody>
      </p:sp>
      <p:sp>
        <p:nvSpPr>
          <p:cNvPr id="30" name="Oval 29"/>
          <p:cNvSpPr/>
          <p:nvPr/>
        </p:nvSpPr>
        <p:spPr>
          <a:xfrm>
            <a:off x="8884800" y="2764800"/>
            <a:ext cx="230400" cy="230400"/>
          </a:xfrm>
          <a:prstGeom prst="ellipse">
            <a:avLst/>
          </a:prstGeom>
          <a:solidFill>
            <a:srgbClr val="74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0000" y="1458000"/>
            <a:ext cx="162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PLM + 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0000" y="1800000"/>
            <a:ext cx="1620000" cy="450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B6876"/>
                </a:solidFill>
                <a:latin typeface="PingFang SC"/>
              </a:rPr>
              <a:t>T5/BERT</a:t>
            </a:r>
            <a:br/>
            <a:r>
              <a:rPr sz="1150" b="0">
                <a:solidFill>
                  <a:srgbClr val="5B6876"/>
                </a:solidFill>
                <a:latin typeface="PingFang SC"/>
              </a:rPr>
              <a:t>sketch/约束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00000" y="2358000"/>
            <a:ext cx="0" cy="385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00000" y="3016800"/>
            <a:ext cx="0" cy="637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54000" y="3761999"/>
            <a:ext cx="1692000" cy="413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10" b="1">
                <a:solidFill>
                  <a:srgbClr val="242B34"/>
                </a:solidFill>
                <a:latin typeface="PingFang SC"/>
              </a:rPr>
              <a:t>语言泛化与结构结合</a:t>
            </a:r>
          </a:p>
        </p:txBody>
      </p:sp>
      <p:sp>
        <p:nvSpPr>
          <p:cNvPr id="36" name="Oval 35"/>
          <p:cNvSpPr/>
          <p:nvPr/>
        </p:nvSpPr>
        <p:spPr>
          <a:xfrm>
            <a:off x="10954800" y="2764800"/>
            <a:ext cx="230400" cy="230400"/>
          </a:xfrm>
          <a:prstGeom prst="ellipse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60000" y="1458000"/>
            <a:ext cx="162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LLM 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0000" y="1800000"/>
            <a:ext cx="1620000" cy="450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5B6876"/>
                </a:solidFill>
                <a:latin typeface="PingFang SC"/>
              </a:rPr>
              <a:t>RAG/Agent</a:t>
            </a:r>
            <a:br/>
            <a:r>
              <a:rPr sz="1150" b="0">
                <a:solidFill>
                  <a:srgbClr val="5B6876"/>
                </a:solidFill>
                <a:latin typeface="PingFang SC"/>
              </a:rPr>
              <a:t>执行验证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070000" y="2358000"/>
            <a:ext cx="0" cy="385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070000" y="3016800"/>
            <a:ext cx="0" cy="637200"/>
          </a:xfrm>
          <a:prstGeom prst="line">
            <a:avLst/>
          </a:prstGeom>
          <a:ln w="12700">
            <a:solidFill>
              <a:srgbClr val="BEC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224000" y="3761999"/>
            <a:ext cx="1692000" cy="413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10" b="1">
                <a:solidFill>
                  <a:srgbClr val="242B34"/>
                </a:solidFill>
                <a:latin typeface="PingFang SC"/>
              </a:rPr>
              <a:t>从模型题变成系统题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2000" y="4680000"/>
            <a:ext cx="10980000" cy="936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2000" y="4680000"/>
            <a:ext cx="43200" cy="936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3200" y="4802400"/>
            <a:ext cx="1072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贯穿主线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3200" y="5083200"/>
            <a:ext cx="10720800" cy="47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从模板到 LLM，方法越来越开放，但系统可靠性仍取决于一个朴素问题：用户话里的概念到底应当落到哪些表、列、值、JOIN path 和业务规则上。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Text-to-SQL 任务：从一句话到可执行查询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530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530000"/>
            <a:ext cx="2015999" cy="2952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0800" y="1598400"/>
            <a:ext cx="1886399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自然语言问题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00" y="1933200"/>
            <a:ext cx="1771199" cy="61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“列出 2024 年销售额最高的三个品类及同比增长率”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000" y="1530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98000" y="1530000"/>
            <a:ext cx="2015999" cy="2952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800" y="1598400"/>
            <a:ext cx="1886399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Schema /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0400" y="1933200"/>
            <a:ext cx="1771199" cy="61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tables, columns, types, PK/FK, comments, business glossary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0000" y="1530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10000" y="1530000"/>
            <a:ext cx="2015999" cy="2952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4800" y="1598400"/>
            <a:ext cx="1886399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Schema Linking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2400" y="1933200"/>
            <a:ext cx="1771199" cy="61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问题词、值、列、表、关系之间的显式对齐证据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2000" y="1530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2000" y="1530000"/>
            <a:ext cx="2015999" cy="2952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6800" y="1598400"/>
            <a:ext cx="1886399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SQL 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4400" y="1933200"/>
            <a:ext cx="1771199" cy="61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SELECT / JOIN / WHERE / GROUP BY / ORDER BY / dialect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34000" y="1530000"/>
            <a:ext cx="1512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34000" y="1530000"/>
            <a:ext cx="1512000" cy="2952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8800" y="1598400"/>
            <a:ext cx="138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执行验证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6400" y="1933200"/>
            <a:ext cx="1267200" cy="61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结果、代价、权限、安全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02000" y="2070000"/>
            <a:ext cx="360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14000" y="2070000"/>
            <a:ext cx="360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26000" y="2070000"/>
            <a:ext cx="360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38000" y="2070000"/>
            <a:ext cx="360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22000" y="3330000"/>
            <a:ext cx="5238000" cy="1890000"/>
          </a:xfrm>
          <a:prstGeom prst="roundRect">
            <a:avLst>
              <a:gd name="adj" fmla="val 5000"/>
            </a:avLst>
          </a:prstGeom>
          <a:solidFill>
            <a:srgbClr val="1A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2000" y="3330000"/>
            <a:ext cx="5238000" cy="223200"/>
          </a:xfrm>
          <a:prstGeom prst="rect">
            <a:avLst/>
          </a:prstGeom>
          <a:solidFill>
            <a:srgbClr val="2636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400" y="3409200"/>
            <a:ext cx="46800" cy="46800"/>
          </a:xfrm>
          <a:prstGeom prst="ellipse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3999" y="3409200"/>
            <a:ext cx="46800" cy="46800"/>
          </a:xfrm>
          <a:prstGeom prst="ellipse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3600" y="3409200"/>
            <a:ext cx="46800" cy="46800"/>
          </a:xfrm>
          <a:prstGeom prst="ellipse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600" y="3654000"/>
            <a:ext cx="4978800" cy="1494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30" b="0">
                <a:solidFill>
                  <a:srgbClr val="E2EEF5"/>
                </a:solidFill>
                <a:latin typeface="Menlo"/>
              </a:rPr>
              <a:t>SELECT c.category_name,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       SUM(o.amount) AS sales,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       (SUM(o.amount) - SUM(prev.amount)) / SUM(prev.amount) AS yoy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FROM orders o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JOIN categories c ON o.category_id = c.id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LEFT JOIN orders prev ON ...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WHERE o.order_date BETWEEN '2024-01-01' AND '2024-12-31'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GROUP BY c.category_name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ORDER BY sales DESC</a:t>
            </a:r>
            <a:br/>
            <a:r>
              <a:rPr sz="1030" b="0">
                <a:solidFill>
                  <a:srgbClr val="E2EEF5"/>
                </a:solidFill>
                <a:latin typeface="Menlo"/>
              </a:rPr>
              <a:t>LIMIT 3;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2000" y="5191200"/>
            <a:ext cx="5238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20000" y="3330000"/>
            <a:ext cx="5382000" cy="1890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0000" y="3330000"/>
            <a:ext cx="43200" cy="1890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1200" y="3452400"/>
            <a:ext cx="512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关键不是 SQL 模板，而是语义绑定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1200" y="3733200"/>
            <a:ext cx="5122800" cy="14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SQL 的语法空间有限，但数据库语义空间很大：字段名可能缩写，业务概念可能跨表，值可能需要模糊匹配，日期和指标口径需要上下文。Schema Linking 负责把开放语言压缩到可执行的数据库操作空间。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挑战拆解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为什么 Text-to-SQL 比“翻译”更难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278000"/>
            <a:ext cx="3438000" cy="167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278000"/>
            <a:ext cx="43200" cy="1674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400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词面不一致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200" y="1681200"/>
            <a:ext cx="3178800" cy="121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“老师/讲师/Instructor”“销售额/GMV/revenue”经常不是字段名原文。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2000" y="1278000"/>
            <a:ext cx="3438000" cy="167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2000" y="1278000"/>
            <a:ext cx="43200" cy="16740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3200" y="1400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值证据缺失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3200" y="1681200"/>
            <a:ext cx="3178800" cy="121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用户问“新加坡校区”，表里可能是 campus_id=2 或 campus_name='Kent Ridge'。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8000" y="1278000"/>
            <a:ext cx="3438000" cy="167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8000" y="1278000"/>
            <a:ext cx="43200" cy="1674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9200" y="1400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结构推理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9200" y="1681200"/>
            <a:ext cx="3178800" cy="121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JOIN path、外键方向、桥表、多对多关系需要结构搜索。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000" y="3293999"/>
            <a:ext cx="3438000" cy="167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6000" y="3293999"/>
            <a:ext cx="43200" cy="1674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200" y="3416399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业务口径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00" y="3697199"/>
            <a:ext cx="3178800" cy="121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“活跃用户”“订单成功率”往往是组织内约定，不一定写在 schema。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2000" y="3293999"/>
            <a:ext cx="3438000" cy="167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12000" y="3293999"/>
            <a:ext cx="43200" cy="1674000"/>
          </a:xfrm>
          <a:prstGeom prst="rect">
            <a:avLst/>
          </a:prstGeom>
          <a:solidFill>
            <a:srgbClr val="74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3200" y="3416399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SQL 等价性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3200" y="3697199"/>
            <a:ext cx="3178800" cy="121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不同 SQL 可产生同一结果，exact match 与真实正确性存在偏差。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8000" y="3293999"/>
            <a:ext cx="3438000" cy="167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8000" y="3293999"/>
            <a:ext cx="43200" cy="1674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200" y="3416399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安全与权限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9200" y="3697199"/>
            <a:ext cx="3178800" cy="121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生产环境还要考虑注入、越权、长查询、敏感字段和审计。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999" y="5598000"/>
            <a:ext cx="10620000" cy="306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460" b="1">
                <a:solidFill>
                  <a:srgbClr val="12202F"/>
                </a:solidFill>
                <a:latin typeface="PingFang SC"/>
              </a:rPr>
              <a:t>独立思考：模型越强，越容易掩盖链接错误。它会生成语法漂亮、执行成功、但业务语义错位的 SQL；因此链接证据和执行审计比单纯提升生成模型更重要。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核心概念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从 Schema Mapping 到 Schema Linking：概念边界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170000"/>
            <a:ext cx="10512000" cy="279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170000"/>
            <a:ext cx="1872000" cy="558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000" y="1231200"/>
            <a:ext cx="18000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8000" y="1170000"/>
            <a:ext cx="2880000" cy="558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4000" y="1231200"/>
            <a:ext cx="28080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Schema Mapping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38000" y="1170000"/>
            <a:ext cx="2880000" cy="558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4000" y="1231200"/>
            <a:ext cx="28080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Schema Linking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8000" y="1170000"/>
            <a:ext cx="2880000" cy="558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000" y="1231200"/>
            <a:ext cx="28080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Schema Grounding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" y="1728000"/>
            <a:ext cx="1872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00" y="1771200"/>
            <a:ext cx="1771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1">
                <a:solidFill>
                  <a:srgbClr val="242B34"/>
                </a:solidFill>
                <a:latin typeface="PingFang SC"/>
              </a:rPr>
              <a:t>目标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8000" y="1728000"/>
            <a:ext cx="2880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08400" y="1771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词面或实体到 schema item 的候选映射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8000" y="1728000"/>
            <a:ext cx="2880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8400" y="1771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问题 token / 值 / 表列 / 关系的结构化对齐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8000" y="1728000"/>
            <a:ext cx="2880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8400" y="1771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把链接证据落到真实数据、权限、业务定义和执行环境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0" y="2286000"/>
            <a:ext cx="1872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400" y="2329200"/>
            <a:ext cx="1771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1">
                <a:solidFill>
                  <a:srgbClr val="242B34"/>
                </a:solidFill>
                <a:latin typeface="PingFang SC"/>
              </a:rPr>
              <a:t>典型方法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8000" y="2286000"/>
            <a:ext cx="2880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08400" y="2329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字符串匹配、同义词、NER、列名相似度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000" y="2286000"/>
            <a:ext cx="2880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8400" y="2329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关系图、注意力、显式链接标签、schema pruning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8000" y="2286000"/>
            <a:ext cx="2880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8400" y="2329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RAG、元数据检索、值采样、执行反馈、数据目录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" y="2844000"/>
            <a:ext cx="1872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400" y="2887200"/>
            <a:ext cx="1771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1">
                <a:solidFill>
                  <a:srgbClr val="242B34"/>
                </a:solidFill>
                <a:latin typeface="PingFang SC"/>
              </a:rPr>
              <a:t>优点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8000" y="2844000"/>
            <a:ext cx="2880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08400" y="2887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简单、可解释、低成本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8000" y="2844000"/>
            <a:ext cx="2880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8400" y="2887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能建模跨表关系和组合语义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8000" y="2844000"/>
            <a:ext cx="2880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8400" y="2887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更贴近生产，能处理脏数据和业务口径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" y="3402000"/>
            <a:ext cx="1872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6400" y="3445200"/>
            <a:ext cx="1771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1">
                <a:solidFill>
                  <a:srgbClr val="242B34"/>
                </a:solidFill>
                <a:latin typeface="PingFang SC"/>
              </a:rPr>
              <a:t>短板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58000" y="3402000"/>
            <a:ext cx="2880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08400" y="3445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词面变化大时脆弱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8000" y="3402000"/>
            <a:ext cx="2880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88400" y="3445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链接错误会传导到生成器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18000" y="3402000"/>
            <a:ext cx="2880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8400" y="3445200"/>
            <a:ext cx="2779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910" b="0">
                <a:solidFill>
                  <a:srgbClr val="5B6876"/>
                </a:solidFill>
                <a:latin typeface="PingFang SC"/>
              </a:rPr>
              <a:t>工程复杂、依赖治理质量与权限体系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8000" y="4248000"/>
            <a:ext cx="10944000" cy="1404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58000" y="4248000"/>
            <a:ext cx="43200" cy="1404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9200" y="4370400"/>
            <a:ext cx="1068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一个清晰区分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200" y="4651200"/>
            <a:ext cx="10684800" cy="94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5B6876"/>
                </a:solidFill>
                <a:latin typeface="PingFang SC"/>
              </a:rPr>
              <a:t>Mapping 解决“可能是哪一列”；Linking 解决“这些列和值如何组成一个查询意图”；Grounding 解决“这个意图在当前组织的数据资产和业务规则中是否成立”。LLM 时代真正缺的通常不是语言理解，而是 Grounding 能力。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阶段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早期路线：规则、模板与语义解析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116000"/>
            <a:ext cx="10512000" cy="28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 b="0">
                <a:solidFill>
                  <a:srgbClr val="5B6876"/>
                </a:solidFill>
                <a:latin typeface="PingFang SC"/>
              </a:rPr>
              <a:t>早期系统强调可控性：限制问题表达、维护词典和模板，用规则把自然语言解析为逻辑形式或 SQL 片段。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800000"/>
            <a:ext cx="2160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2160000" cy="2952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800" y="1868400"/>
            <a:ext cx="2030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Lexicon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400" y="2203200"/>
            <a:ext cx="1915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业务词典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同义词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实体列表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4000" y="1800000"/>
            <a:ext cx="2160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4000" y="1800000"/>
            <a:ext cx="2160000" cy="2952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8800" y="1868400"/>
            <a:ext cx="2030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400" y="2203200"/>
            <a:ext cx="1915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固定句式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SQL slots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规则组合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8000" y="1800000"/>
            <a:ext cx="2160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8000" y="1800000"/>
            <a:ext cx="2160000" cy="2952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2800" y="1868400"/>
            <a:ext cx="2030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Semantic Parser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0400" y="2203200"/>
            <a:ext cx="1915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lambda calculus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SQL AST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约束搜索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12000" y="1800000"/>
            <a:ext cx="2160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12000" y="1800000"/>
            <a:ext cx="2160000" cy="2952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6800" y="1868400"/>
            <a:ext cx="2030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4400" y="2203200"/>
            <a:ext cx="1915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执行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返回结果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人工修正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80000" y="2376000"/>
            <a:ext cx="486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44000" y="2376000"/>
            <a:ext cx="486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08000" y="2376000"/>
            <a:ext cx="486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86000" y="3636000"/>
            <a:ext cx="3456000" cy="1692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6000" y="3636000"/>
            <a:ext cx="43200" cy="1692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200" y="3758400"/>
            <a:ext cx="3196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00" y="4039200"/>
            <a:ext cx="3196800" cy="123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160" b="0">
                <a:solidFill>
                  <a:srgbClr val="5B6876"/>
                </a:solidFill>
                <a:latin typeface="PingFang SC"/>
              </a:rPr>
              <a:t>高可解释、低幻觉、容易嵌入权限与审计；在窄领域、强约束场景仍然有效。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6000" y="3636000"/>
            <a:ext cx="3456000" cy="1692000"/>
          </a:xfrm>
          <a:prstGeom prst="roundRect">
            <a:avLst>
              <a:gd name="adj" fmla="val 8000"/>
            </a:avLst>
          </a:prstGeom>
          <a:solidFill>
            <a:srgbClr val="FDEFE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6000" y="3636000"/>
            <a:ext cx="43200" cy="1692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200" y="3758400"/>
            <a:ext cx="3196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瓶颈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200" y="4039200"/>
            <a:ext cx="3196800" cy="123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160" b="0">
                <a:solidFill>
                  <a:srgbClr val="5B6876"/>
                </a:solidFill>
                <a:latin typeface="PingFang SC"/>
              </a:rPr>
              <a:t>规则维护成本高；跨域泛化差；遇到长问题、隐含条件和复杂 JOIN 时迅速变脆。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6000" y="3636000"/>
            <a:ext cx="3276000" cy="1692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6000" y="3636000"/>
            <a:ext cx="43200" cy="1692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77200" y="3758400"/>
            <a:ext cx="3016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遗产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7200" y="4039200"/>
            <a:ext cx="3016800" cy="123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160" b="0">
                <a:solidFill>
                  <a:srgbClr val="5B6876"/>
                </a:solidFill>
                <a:latin typeface="PingFang SC"/>
              </a:rPr>
              <a:t>今天的 LLM 系统仍在复用这条思路：词典、元数据、业务 glossary、SQL 模板都变成检索上下文。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2017-2018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WikiSQL 时代：从 Seq2Seq 到结构化解码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116000"/>
            <a:ext cx="10620000" cy="28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0">
                <a:solidFill>
                  <a:srgbClr val="5B6876"/>
                </a:solidFill>
                <a:latin typeface="PingFang SC"/>
              </a:rPr>
              <a:t>WikiSQL 把任务推向大规模训练；Seq2SQL、SQLNet 等方法发现：SQL 不是普通句子，直接序列化会带来排列歧义和无效查询。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674000"/>
            <a:ext cx="3456000" cy="1872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000" y="1674000"/>
            <a:ext cx="43200" cy="1872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200" y="1796400"/>
            <a:ext cx="3196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Seq2SQL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" y="2077200"/>
            <a:ext cx="3196800" cy="141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引入强化学习优化执行结果，处理 WHERE 条件顺序等 SQL 等价问题；但训练不稳定，结构约束有限。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6000" y="1674000"/>
            <a:ext cx="3456000" cy="1872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6000" y="1674000"/>
            <a:ext cx="43200" cy="1872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200" y="1796400"/>
            <a:ext cx="3196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SQLNet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200" y="2077200"/>
            <a:ext cx="3196800" cy="141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采用 sketch 与 sequence-to-set，避免 order-matters；列注意力让模型聚焦 schema item。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6000" y="1674000"/>
            <a:ext cx="3276000" cy="1872000"/>
          </a:xfrm>
          <a:prstGeom prst="roundRect">
            <a:avLst>
              <a:gd name="adj" fmla="val 8000"/>
            </a:avLst>
          </a:prstGeom>
          <a:solidFill>
            <a:srgbClr val="FFF7E7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6000" y="1674000"/>
            <a:ext cx="43200" cy="1872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7200" y="1796400"/>
            <a:ext cx="3016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TypeSQL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7200" y="2077200"/>
            <a:ext cx="3016800" cy="141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用列类型、值类型和知识增强，开始把“问题词是否像一个值/列”显式编码。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4158000"/>
            <a:ext cx="2664000" cy="19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1">
                <a:solidFill>
                  <a:srgbClr val="12202F"/>
                </a:solidFill>
                <a:latin typeface="PingFang SC"/>
              </a:rPr>
              <a:t>这一阶段的隐含假设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000" y="4500000"/>
            <a:ext cx="10728000" cy="1188000"/>
          </a:xfrm>
          <a:prstGeom prst="rect">
            <a:avLst/>
          </a:prstGeom>
          <a:noFill/>
        </p:spPr>
        <p:txBody>
          <a:bodyPr wrap="square" lIns="36000" rIns="36000" tIns="7200" bIns="720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40">
                <a:solidFill>
                  <a:srgbClr val="242B34"/>
                </a:solidFill>
                <a:latin typeface="PingFang SC"/>
              </a:rPr>
              <a:t>• 多为单表或结构相对简单，核心难点是 SELECT/WHERE/聚合槽位预测。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40">
                <a:solidFill>
                  <a:srgbClr val="242B34"/>
                </a:solidFill>
                <a:latin typeface="PingFang SC"/>
              </a:rPr>
              <a:t>• Schema Linking 主要体现为列注意力和类型匹配，还没有成为独立模块。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40">
                <a:solidFill>
                  <a:srgbClr val="242B34"/>
                </a:solidFill>
                <a:latin typeface="PingFang SC"/>
              </a:rPr>
              <a:t>• 对企业数据库中跨表 JOIN、业务指标、脏值、注释元数据的挑战覆盖不足。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资料来源：Seq2SQL、SQLNet、TypeSQL、WikiSQL 相关论文；详细清单见末页。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2018 之后的转折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Spider：把问题推向“跨域、多表、复杂 SQL”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2000" y="1278000"/>
            <a:ext cx="2015999" cy="88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000" y="1378800"/>
            <a:ext cx="183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46BC9"/>
                </a:solidFill>
                <a:latin typeface="PingFang SC"/>
              </a:rPr>
              <a:t>10,181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" y="1717200"/>
            <a:ext cx="179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4000" y="1278000"/>
            <a:ext cx="2015999" cy="88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4000" y="1378800"/>
            <a:ext cx="183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29FAE"/>
                </a:solidFill>
                <a:latin typeface="PingFang SC"/>
              </a:rPr>
              <a:t>5,693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00" y="1717200"/>
            <a:ext cx="179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unique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6000" y="1278000"/>
            <a:ext cx="2015999" cy="88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6000" y="1378800"/>
            <a:ext cx="183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328F60"/>
                </a:solidFill>
                <a:latin typeface="PingFang SC"/>
              </a:rPr>
              <a:t>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4000" y="1717200"/>
            <a:ext cx="179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databases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18000" y="1278000"/>
            <a:ext cx="2015999" cy="88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8000" y="1378800"/>
            <a:ext cx="183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DA972D"/>
                </a:solidFill>
                <a:latin typeface="PingFang SC"/>
              </a:rPr>
              <a:t>138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6000" y="1717200"/>
            <a:ext cx="179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domains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0000" y="1278000"/>
            <a:ext cx="2015999" cy="88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0000" y="1378800"/>
            <a:ext cx="1835999" cy="3096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C04C4C"/>
                </a:solidFill>
                <a:latin typeface="PingFang SC"/>
              </a:rPr>
              <a:t>12.4%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8000" y="1717200"/>
            <a:ext cx="1799999" cy="208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早期最佳 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8000" y="1940400"/>
            <a:ext cx="1799999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828F9C"/>
                </a:solidFill>
                <a:latin typeface="PingFang SC"/>
              </a:rPr>
              <a:t>database split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000" y="2592000"/>
            <a:ext cx="5256000" cy="1818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000" y="2592000"/>
            <a:ext cx="43200" cy="1818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00" y="2714400"/>
            <a:ext cx="4996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范式变化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00" y="2995200"/>
            <a:ext cx="4996800" cy="135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训练和测试数据库不同，模型不能靠记忆字段或 SQL 模板；必须泛化到未见 schema，并理解表间关系。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38000" y="2592000"/>
            <a:ext cx="5364000" cy="1818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38000" y="2592000"/>
            <a:ext cx="43200" cy="1818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9200" y="2714400"/>
            <a:ext cx="510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对 Schema Linking 的影响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9200" y="2995200"/>
            <a:ext cx="5104800" cy="135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schema item 的候选空间变大，列名不再直接出现在问题里，JOIN path 与外键结构成为关键。Schema Linking 从辅助特征变成主战场。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4914000"/>
            <a:ext cx="10692000" cy="360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20" b="1">
                <a:solidFill>
                  <a:srgbClr val="12202F"/>
                </a:solidFill>
                <a:latin typeface="PingFang SC"/>
              </a:rPr>
              <a:t>Spider 的价值不只是一个数据集，而是把 Text-to-SQL 从“在固定数据库上拟合语言模式”改造成“在新数据库上进行结构泛化”。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 paper, arXiv:1809.08887。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链接对象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Schema Linking 到底链接什么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2000" y="2160000"/>
            <a:ext cx="2736000" cy="1296000"/>
          </a:xfrm>
          <a:prstGeom prst="ellipse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0" y="2484000"/>
            <a:ext cx="2160000" cy="28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Schema Linking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3999" y="1170000"/>
            <a:ext cx="3294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3999" y="1170000"/>
            <a:ext cx="43200" cy="1296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199" y="1292400"/>
            <a:ext cx="303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Token ↔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99" y="1573200"/>
            <a:ext cx="30348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30" b="0">
                <a:solidFill>
                  <a:srgbClr val="5B6876"/>
                </a:solidFill>
                <a:latin typeface="PingFang SC"/>
              </a:rPr>
              <a:t>“价格” ↔ price / amount / revenue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52800" y="2466000"/>
            <a:ext cx="3967200" cy="342000"/>
          </a:xfrm>
          <a:prstGeom prst="line">
            <a:avLst/>
          </a:prstGeom>
          <a:ln w="127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56000" y="1170000"/>
            <a:ext cx="3294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6000" y="1170000"/>
            <a:ext cx="43200" cy="12960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200" y="1292400"/>
            <a:ext cx="303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Token ↔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200" y="1573200"/>
            <a:ext cx="30348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30" b="0">
                <a:solidFill>
                  <a:srgbClr val="5B6876"/>
                </a:solidFill>
                <a:latin typeface="PingFang SC"/>
              </a:rPr>
              <a:t>“学生” ↔ student / enrollment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04800" y="2466000"/>
            <a:ext cx="115200" cy="342000"/>
          </a:xfrm>
          <a:prstGeom prst="line">
            <a:avLst/>
          </a:prstGeom>
          <a:ln w="127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08000" y="1170000"/>
            <a:ext cx="3294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8000" y="1170000"/>
            <a:ext cx="43200" cy="1296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9200" y="1292400"/>
            <a:ext cx="303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Value ↔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9200" y="1573200"/>
            <a:ext cx="30348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30" b="0">
                <a:solidFill>
                  <a:srgbClr val="5B6876"/>
                </a:solidFill>
                <a:latin typeface="PingFang SC"/>
              </a:rPr>
              <a:t>“CS101” ↔ course_code='CS101'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120000" y="2466000"/>
            <a:ext cx="3736800" cy="342000"/>
          </a:xfrm>
          <a:prstGeom prst="line">
            <a:avLst/>
          </a:prstGeom>
          <a:ln w="127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3999" y="4068000"/>
            <a:ext cx="3294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3999" y="4068000"/>
            <a:ext cx="43200" cy="1296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99" y="4190400"/>
            <a:ext cx="303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Column ↔ Column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99" y="4471200"/>
            <a:ext cx="30348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30" b="0">
                <a:solidFill>
                  <a:srgbClr val="5B6876"/>
                </a:solidFill>
                <a:latin typeface="PingFang SC"/>
              </a:rPr>
              <a:t>FK/PK、join path、桥表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152800" y="2808000"/>
            <a:ext cx="3967200" cy="1260000"/>
          </a:xfrm>
          <a:prstGeom prst="line">
            <a:avLst/>
          </a:prstGeom>
          <a:ln w="127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356000" y="4068000"/>
            <a:ext cx="3294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56000" y="4068000"/>
            <a:ext cx="43200" cy="1296000"/>
          </a:xfrm>
          <a:prstGeom prst="rect">
            <a:avLst/>
          </a:prstGeom>
          <a:solidFill>
            <a:srgbClr val="74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200" y="4190400"/>
            <a:ext cx="303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Phrase ↔ Operator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200" y="4471200"/>
            <a:ext cx="30348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30" b="0">
                <a:solidFill>
                  <a:srgbClr val="5B6876"/>
                </a:solidFill>
                <a:latin typeface="PingFang SC"/>
              </a:rPr>
              <a:t>“最多/平均/去年” ↔ ORDER BY / AVG / time filter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6004800" y="2808000"/>
            <a:ext cx="115200" cy="1260000"/>
          </a:xfrm>
          <a:prstGeom prst="line">
            <a:avLst/>
          </a:prstGeom>
          <a:ln w="127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08000" y="4068000"/>
            <a:ext cx="3294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08000" y="4068000"/>
            <a:ext cx="43200" cy="1296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9200" y="4190400"/>
            <a:ext cx="303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Intent ↔ Business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9200" y="4471200"/>
            <a:ext cx="30348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30" b="0">
                <a:solidFill>
                  <a:srgbClr val="5B6876"/>
                </a:solidFill>
                <a:latin typeface="PingFang SC"/>
              </a:rPr>
              <a:t>“活跃” ↔ 最近 30 天登录且未注销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6120000" y="2808000"/>
            <a:ext cx="3736800" cy="1260000"/>
          </a:xfrm>
          <a:prstGeom prst="line">
            <a:avLst/>
          </a:prstGeom>
          <a:ln w="12700">
            <a:solidFill>
              <a:srgbClr val="AA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代表方法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RAT-SQL：把 Linking 做成关系感知图编码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620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0">
                <a:solidFill>
                  <a:srgbClr val="5B6876"/>
                </a:solidFill>
                <a:latin typeface="PingFang SC"/>
              </a:rPr>
              <a:t>RAT-SQL 将问题 token、表、列共同放入图结构，用 relation-aware self-attention 编码关系类型，同时融合 schema encoding 与 schema linking。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32000" y="1890000"/>
            <a:ext cx="3492000" cy="468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332000" y="2286000"/>
            <a:ext cx="4500000" cy="72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332000" y="1961999"/>
            <a:ext cx="6588000" cy="396001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32000" y="2358000"/>
            <a:ext cx="7596000" cy="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80000" y="1853999"/>
            <a:ext cx="2844000" cy="36001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980000" y="1493999"/>
            <a:ext cx="3780000" cy="360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80000" y="1853999"/>
            <a:ext cx="3852000" cy="432001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80000" y="1853999"/>
            <a:ext cx="5940000" cy="108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980000" y="1565999"/>
            <a:ext cx="6948000" cy="288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80000" y="1853999"/>
            <a:ext cx="6948000" cy="504001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700000" y="1890000"/>
            <a:ext cx="2124000" cy="504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700000" y="2286000"/>
            <a:ext cx="3132000" cy="108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00000" y="1961999"/>
            <a:ext cx="5220000" cy="432001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00000" y="2358000"/>
            <a:ext cx="6228000" cy="36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04000" y="1890000"/>
            <a:ext cx="2916000" cy="71999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004000" y="1565999"/>
            <a:ext cx="3924000" cy="324001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04000" y="1890000"/>
            <a:ext cx="3924000" cy="468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0000" y="1493999"/>
            <a:ext cx="2988000" cy="72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12000" y="2286000"/>
            <a:ext cx="2916000" cy="72000"/>
          </a:xfrm>
          <a:prstGeom prst="line">
            <a:avLst/>
          </a:prstGeom>
          <a:ln w="10160">
            <a:solidFill>
              <a:srgbClr val="DA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52000" y="2232000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000" y="2293200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show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00000" y="1728000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35999" y="1789200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students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20000" y="2268000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56000" y="2329200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courses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24000" y="1764000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0000" y="1825200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student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000" y="1368000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96000" y="1429200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student.name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2000" y="2160000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8000" y="2221200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student.id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0000" y="1835999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6000" y="1897199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enrollment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28000" y="1440000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4000" y="1501200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course_id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28000" y="2232000"/>
            <a:ext cx="900000" cy="280800"/>
          </a:xfrm>
          <a:prstGeom prst="roundRect">
            <a:avLst>
              <a:gd name="adj" fmla="val 18000"/>
            </a:avLst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4000" y="2293200"/>
            <a:ext cx="827999" cy="1259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60" b="1">
                <a:solidFill>
                  <a:srgbClr val="FFFFFF"/>
                </a:solidFill>
                <a:latin typeface="PingFang SC"/>
              </a:rPr>
              <a:t>student_id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6000" y="3456000"/>
            <a:ext cx="3491999" cy="1728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6000" y="3456000"/>
            <a:ext cx="43200" cy="1728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200" y="3578400"/>
            <a:ext cx="323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关系类型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200" y="3859200"/>
            <a:ext cx="3232799" cy="126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table-column、primary key、foreign key、same table、question-schema exact/partial/value match 等。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3456000"/>
            <a:ext cx="3491999" cy="1728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56000" y="3456000"/>
            <a:ext cx="43200" cy="1728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07200" y="3578400"/>
            <a:ext cx="323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技术贡献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7200" y="3859200"/>
            <a:ext cx="3232799" cy="126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不是把 schema 当普通文本拼接，而是显式建模数据库结构与语言对齐。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6000" y="3456000"/>
            <a:ext cx="3276000" cy="1728000"/>
          </a:xfrm>
          <a:prstGeom prst="roundRect">
            <a:avLst>
              <a:gd name="adj" fmla="val 8000"/>
            </a:avLst>
          </a:prstGeom>
          <a:solidFill>
            <a:srgbClr val="FDEFE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6000" y="3456000"/>
            <a:ext cx="43200" cy="172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7200" y="3578400"/>
            <a:ext cx="3016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局限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7200" y="3859200"/>
            <a:ext cx="3016800" cy="126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依赖监督数据与静态 schema；面对超大 schema、业务 glossary 和真实值脏数据仍不够。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资料来源：RAT-SQL paper, arXiv:1911.04942。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IR / Sketch 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中间表示：让模型先想结构，再填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620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0">
                <a:solidFill>
                  <a:srgbClr val="5B6876"/>
                </a:solidFill>
                <a:latin typeface="PingFang SC"/>
              </a:rPr>
              <a:t>IRNet、SemQL、NatSQL 等思路把 SQL 的生成拆成“抽象结构 + schema item 填充”，降低 SQL 语法和数据库绑定同时学习的难度。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1800000"/>
            <a:ext cx="2232000" cy="12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800000"/>
            <a:ext cx="2232000" cy="2952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800" y="1868400"/>
            <a:ext cx="210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400" y="2203200"/>
            <a:ext cx="1987200" cy="76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自然语言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含省略与歧义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4000" y="1800000"/>
            <a:ext cx="2232000" cy="12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4000" y="1800000"/>
            <a:ext cx="2232000" cy="2952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8800" y="1868400"/>
            <a:ext cx="210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IR / Sketch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6400" y="2203200"/>
            <a:ext cx="1987200" cy="76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SELECT-AGG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FILTER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JOIN slots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8000" y="1800000"/>
            <a:ext cx="2232000" cy="12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8000" y="1800000"/>
            <a:ext cx="2232000" cy="2952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2800" y="1868400"/>
            <a:ext cx="210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Schema Filling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0400" y="2203200"/>
            <a:ext cx="1987200" cy="76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列/表/值链接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约束检查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12000" y="1800000"/>
            <a:ext cx="2232000" cy="12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12000" y="1800000"/>
            <a:ext cx="2232000" cy="2952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6800" y="1868400"/>
            <a:ext cx="210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4400" y="2203200"/>
            <a:ext cx="1987200" cy="76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方言化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执行验证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51999" y="2430000"/>
            <a:ext cx="43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16000" y="2430000"/>
            <a:ext cx="43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80000" y="2430000"/>
            <a:ext cx="43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22000" y="3690000"/>
            <a:ext cx="5238000" cy="1620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2000" y="3690000"/>
            <a:ext cx="43200" cy="1620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200" y="3812400"/>
            <a:ext cx="49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为什么有效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200" y="4093200"/>
            <a:ext cx="4978800" cy="11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复杂 SQL 的结构语义与 schema 名称绑定是两类问题。先预测结构，可以减少解码空间；再做 schema filling，可以更清楚地定位链接错误。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0000" y="3690000"/>
            <a:ext cx="5382000" cy="1620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0000" y="3690000"/>
            <a:ext cx="43200" cy="1620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1200" y="3812400"/>
            <a:ext cx="512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对 LLM 的启发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1200" y="4093200"/>
            <a:ext cx="5122800" cy="11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今天的 prompt decomposition、planner-generator、agent routing 本质上延续了 IR 路线：先拆解任务和查询骨架，再选择 schema 与生成 SQL。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资料来源：IRNet / SemQL、NatSQL、SQL sketch 相关论文。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2019-2023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预训练模型时代：把 Schema 当文本还是当结构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206000"/>
            <a:ext cx="10619998" cy="279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206000"/>
            <a:ext cx="1835999" cy="558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000" y="1267200"/>
            <a:ext cx="17639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方法方向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1999" y="1206000"/>
            <a:ext cx="2844000" cy="558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7999" y="1267200"/>
            <a:ext cx="27720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做法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5999" y="1206000"/>
            <a:ext cx="2988000" cy="558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1999" y="1267200"/>
            <a:ext cx="29160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Schema Linking 角色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3999" y="1206000"/>
            <a:ext cx="2951999" cy="558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9999" y="1267200"/>
            <a:ext cx="28799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典型收益/风险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" y="1764000"/>
            <a:ext cx="1835999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00" y="1807200"/>
            <a:ext cx="17351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242B34"/>
                </a:solidFill>
                <a:latin typeface="PingFang SC"/>
              </a:rPr>
              <a:t>BRIDGE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1999" y="1764000"/>
            <a:ext cx="2844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2399" y="1807200"/>
            <a:ext cx="2743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把问题、表、列和值序列化输入 PLM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5999" y="1764000"/>
            <a:ext cx="2988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6399" y="1807200"/>
            <a:ext cx="2887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用文本上下文与值证据增强链接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999" y="1764000"/>
            <a:ext cx="2951999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4399" y="1807200"/>
            <a:ext cx="28511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实现简单，但长 schema 易超上下文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0" y="2322000"/>
            <a:ext cx="1835999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400" y="2365200"/>
            <a:ext cx="17351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242B34"/>
                </a:solidFill>
                <a:latin typeface="PingFang SC"/>
              </a:rPr>
              <a:t>Graphix-T5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21999" y="2322000"/>
            <a:ext cx="2844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2399" y="2365200"/>
            <a:ext cx="2743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T5 + 图结构层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5999" y="2322000"/>
            <a:ext cx="2988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6399" y="2365200"/>
            <a:ext cx="2887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保留 schema 图关系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3999" y="2322000"/>
            <a:ext cx="2951999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4399" y="2365200"/>
            <a:ext cx="28511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兼顾预训练与结构，但系统复杂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" y="2880000"/>
            <a:ext cx="1835999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400" y="2923200"/>
            <a:ext cx="17351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242B34"/>
                </a:solidFill>
                <a:latin typeface="PingFang SC"/>
              </a:rPr>
              <a:t>RESDSQL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21999" y="2880000"/>
            <a:ext cx="2844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2399" y="2923200"/>
            <a:ext cx="2743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解耦 schema linking 与 skeleton parsing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65999" y="2880000"/>
            <a:ext cx="2988000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6399" y="2923200"/>
            <a:ext cx="2887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先排序/裁剪相关 schema，再生成骨架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3999" y="2880000"/>
            <a:ext cx="2951999" cy="558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4399" y="2923200"/>
            <a:ext cx="28511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降低干扰；错误裁剪会漏答案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" y="3438000"/>
            <a:ext cx="1835999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6400" y="3481200"/>
            <a:ext cx="17351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242B34"/>
                </a:solidFill>
                <a:latin typeface="PingFang SC"/>
              </a:rPr>
              <a:t>PICARD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21999" y="3438000"/>
            <a:ext cx="2844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2399" y="3481200"/>
            <a:ext cx="2743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增量解析约束解码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5999" y="3438000"/>
            <a:ext cx="2988000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6399" y="3481200"/>
            <a:ext cx="2887200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主要保证语法合法，间接降低无效 SQL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53999" y="3438000"/>
            <a:ext cx="2951999" cy="558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04399" y="3481200"/>
            <a:ext cx="2851199" cy="49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不能保证语义链接正确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2000" y="4121999"/>
            <a:ext cx="10980000" cy="1368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2000" y="4121999"/>
            <a:ext cx="43200" cy="1368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3200" y="4244399"/>
            <a:ext cx="1072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阶段性结论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3200" y="4525199"/>
            <a:ext cx="10720800" cy="90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400" b="0">
                <a:solidFill>
                  <a:srgbClr val="5B6876"/>
                </a:solidFill>
                <a:latin typeface="PingFang SC"/>
              </a:rPr>
              <a:t>预训练模型提升了语言泛化，但没有消除 Schema Linking。相反，随着 schema 被文本化塞进模型，如何选择、排序、压缩、标注 schema 变成决定 token 效率和准确率的关键。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资料来源：BRIDGE、Graphix-T5、RESDSQL、PICARD 等论文；详细清单见末页。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可靠性工具箱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约束解码与执行反馈：生成之后还要“验算”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620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0">
                <a:solidFill>
                  <a:srgbClr val="5B6876"/>
                </a:solidFill>
                <a:latin typeface="PingFang SC"/>
              </a:rPr>
              <a:t>Text-to-SQL 的正确性可以拆成三层：语法合法、可执行、语义正确。PICARD 和 execution-guided decoding 主要覆盖前两层，第三层仍需要链接证据和业务验证。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000" y="1854000"/>
            <a:ext cx="2160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8000" y="1854000"/>
            <a:ext cx="2160000" cy="2952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2800" y="1922400"/>
            <a:ext cx="2030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1. 语法约束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400" y="2257200"/>
            <a:ext cx="1915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SQL grammar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AST parser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inadmissible token rejection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4000" y="1854000"/>
            <a:ext cx="2160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4000" y="1854000"/>
            <a:ext cx="2160000" cy="2952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8800" y="1922400"/>
            <a:ext cx="2030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2. 类型约束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6400" y="2257200"/>
            <a:ext cx="1915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列类型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聚合函数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比较操作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0000" y="1854000"/>
            <a:ext cx="2160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0000" y="1854000"/>
            <a:ext cx="2160000" cy="2952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800" y="1922400"/>
            <a:ext cx="2030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3. 执行反馈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2400" y="2257200"/>
            <a:ext cx="1915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error message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empty result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query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66000" y="1854000"/>
            <a:ext cx="2160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66000" y="1854000"/>
            <a:ext cx="2160000" cy="2952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0800" y="1922400"/>
            <a:ext cx="2030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4. 语义验收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8400" y="2257200"/>
            <a:ext cx="1915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unit tests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business rule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human 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18000" y="2430000"/>
            <a:ext cx="558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54000" y="2430000"/>
            <a:ext cx="558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90000" y="2430000"/>
            <a:ext cx="558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58000" y="3761999"/>
            <a:ext cx="5220000" cy="1530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8000" y="3761999"/>
            <a:ext cx="43200" cy="1530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0" y="3884399"/>
            <a:ext cx="496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PICARD 的启示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200" y="4165199"/>
            <a:ext cx="4960800" cy="106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10" b="0">
                <a:solidFill>
                  <a:srgbClr val="5B6876"/>
                </a:solidFill>
                <a:latin typeface="PingFang SC"/>
              </a:rPr>
              <a:t>语言模型可以被语法解析器“拦住手”：每一步只允许产生仍可被解析为 SQL 的 token，从而显著减少无效输出。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8000" y="3761999"/>
            <a:ext cx="5364000" cy="1530000"/>
          </a:xfrm>
          <a:prstGeom prst="roundRect">
            <a:avLst>
              <a:gd name="adj" fmla="val 8000"/>
            </a:avLst>
          </a:prstGeom>
          <a:solidFill>
            <a:srgbClr val="FDEFE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38000" y="3761999"/>
            <a:ext cx="43200" cy="1530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9200" y="3884399"/>
            <a:ext cx="5104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但还不够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9200" y="4165199"/>
            <a:ext cx="5104800" cy="106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10" b="0">
                <a:solidFill>
                  <a:srgbClr val="5B6876"/>
                </a:solidFill>
                <a:latin typeface="PingFang SC"/>
              </a:rPr>
              <a:t>能执行不代表问对了表、连对了字段。语义正确性需要问题意图、schema 链接证据、样例结果和业务口径共同校验。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资料来源：PICARD paper, arXiv:2109.05093；execution-guided Text-to-SQL 相关研究。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2023 之后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LLM 时代：从“训练一个解析器”到“搭一个查询系统”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620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0">
                <a:solidFill>
                  <a:srgbClr val="5B6876"/>
                </a:solidFill>
                <a:latin typeface="PingFang SC"/>
              </a:rPr>
              <a:t>ChatGPT/Codex 一类模型证明了通用语言模型具备强 SQL 先验，但真实表现高度依赖上下文组织、示例选择、schema 选择与验证流程。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800000"/>
            <a:ext cx="1962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000" y="1800000"/>
            <a:ext cx="1962000" cy="2952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Metadata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400" y="2203200"/>
            <a:ext cx="17172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表说明、列注释、业务 glossary、历史查询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8000" y="2448000"/>
            <a:ext cx="25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00000" y="1800000"/>
            <a:ext cx="1962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0000" y="1800000"/>
            <a:ext cx="1962000" cy="2952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4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Schema Pruning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2400" y="2203200"/>
            <a:ext cx="17172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从数千列缩小到几十列候选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62000" y="2448000"/>
            <a:ext cx="25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14000" y="1800000"/>
            <a:ext cx="1962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000" y="1800000"/>
            <a:ext cx="1962000" cy="2952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8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Prompt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400" y="2203200"/>
            <a:ext cx="17172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问题分解、SQL sketch、few-shot 示例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76000" y="2448000"/>
            <a:ext cx="25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28000" y="1800000"/>
            <a:ext cx="1962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28000" y="1800000"/>
            <a:ext cx="1962000" cy="2952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2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Candidate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0400" y="2203200"/>
            <a:ext cx="17172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多路径生成、self-consistency、温度采样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90000" y="2448000"/>
            <a:ext cx="25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342000" y="1800000"/>
            <a:ext cx="1962000" cy="12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42000" y="1800000"/>
            <a:ext cx="1962000" cy="2952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6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Verifier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400" y="2203200"/>
            <a:ext cx="1717200" cy="83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执行、单元测试、代价、权限、安全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2000" y="3654000"/>
            <a:ext cx="3491999" cy="1782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2000" y="3654000"/>
            <a:ext cx="43200" cy="1782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200" y="3776400"/>
            <a:ext cx="323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模型能力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200" y="4057200"/>
            <a:ext cx="3232799" cy="132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60" b="0">
                <a:solidFill>
                  <a:srgbClr val="5B6876"/>
                </a:solidFill>
                <a:latin typeface="PingFang SC"/>
              </a:rPr>
              <a:t>理解自然语言、解释 schema 注释、生成 SQL 草案、修复执行错误。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6000" y="3654000"/>
            <a:ext cx="3491999" cy="1782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56000" y="3654000"/>
            <a:ext cx="43200" cy="1782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200" y="3776400"/>
            <a:ext cx="323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系统能力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200" y="4057200"/>
            <a:ext cx="3232799" cy="132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60" b="0">
                <a:solidFill>
                  <a:srgbClr val="5B6876"/>
                </a:solidFill>
                <a:latin typeface="PingFang SC"/>
              </a:rPr>
              <a:t>检索、裁剪、约束、缓存、日志、审计、权限和回归测试。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0000" y="3654000"/>
            <a:ext cx="3311999" cy="1782000"/>
          </a:xfrm>
          <a:prstGeom prst="roundRect">
            <a:avLst>
              <a:gd name="adj" fmla="val 8000"/>
            </a:avLst>
          </a:prstGeom>
          <a:solidFill>
            <a:srgbClr val="FFF7E7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90000" y="3654000"/>
            <a:ext cx="43200" cy="1782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1200" y="3776400"/>
            <a:ext cx="305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核心平衡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1200" y="4057200"/>
            <a:ext cx="3052799" cy="132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60" b="0">
                <a:solidFill>
                  <a:srgbClr val="5B6876"/>
                </a:solidFill>
                <a:latin typeface="PingFang SC"/>
              </a:rPr>
              <a:t>更长上下文不等于更强链接；精准证据通常比把整个数据库塞进去更重要。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LLM 方法一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Prompt Engineering：把 Schema Linking 外显到提示词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152000"/>
            <a:ext cx="10619998" cy="26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152000"/>
            <a:ext cx="1980000" cy="5328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000" y="1213200"/>
            <a:ext cx="19080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策略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6000" y="1152000"/>
            <a:ext cx="2951999" cy="5328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2000" y="1213200"/>
            <a:ext cx="28799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做法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7999" y="1152000"/>
            <a:ext cx="2951999" cy="5328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3999" y="1213200"/>
            <a:ext cx="28799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价值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9998" y="1152000"/>
            <a:ext cx="2736000" cy="5328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5998" y="1213200"/>
            <a:ext cx="26640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" y="1684800"/>
            <a:ext cx="1980000" cy="5328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00" y="1728000"/>
            <a:ext cx="18792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1">
                <a:solidFill>
                  <a:srgbClr val="242B34"/>
                </a:solidFill>
                <a:latin typeface="PingFang SC"/>
              </a:rPr>
              <a:t>Schema Serialization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6000" y="1684800"/>
            <a:ext cx="2951999" cy="5328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6400" y="1728000"/>
            <a:ext cx="28511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DDL、列名、类型、外键、样例值、注释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7999" y="1684800"/>
            <a:ext cx="2951999" cy="5328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399" y="1728000"/>
            <a:ext cx="28511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给模型数据库语义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9998" y="1684800"/>
            <a:ext cx="2736000" cy="5328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0398" y="1728000"/>
            <a:ext cx="26352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上下文膨胀、噪声干扰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0" y="2217600"/>
            <a:ext cx="1980000" cy="5328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400" y="2260800"/>
            <a:ext cx="18792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1">
                <a:solidFill>
                  <a:srgbClr val="242B34"/>
                </a:solidFill>
                <a:latin typeface="PingFang SC"/>
              </a:rPr>
              <a:t>Few-shot Selection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6000" y="2217600"/>
            <a:ext cx="2951999" cy="5328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6400" y="2260800"/>
            <a:ext cx="28511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按问题/schema 相似度选示例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999" y="2217600"/>
            <a:ext cx="2951999" cy="5328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399" y="2260800"/>
            <a:ext cx="28511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迁移 SQL 模式和链接模式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9998" y="2217600"/>
            <a:ext cx="2736000" cy="5328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0398" y="2260800"/>
            <a:ext cx="26352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示例偏差会诱导错误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" y="2750400"/>
            <a:ext cx="1980000" cy="5328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400" y="2793600"/>
            <a:ext cx="18792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1">
                <a:solidFill>
                  <a:srgbClr val="242B34"/>
                </a:solidFill>
                <a:latin typeface="PingFang SC"/>
              </a:rPr>
              <a:t>Decomposition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6000" y="2750400"/>
            <a:ext cx="2951999" cy="5328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6400" y="2793600"/>
            <a:ext cx="28511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分类、schema linking、SQL 生成、自校正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7999" y="2750400"/>
            <a:ext cx="2951999" cy="5328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399" y="2793600"/>
            <a:ext cx="28511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降低单步推理难度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9998" y="2750400"/>
            <a:ext cx="2736000" cy="5328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0398" y="2793600"/>
            <a:ext cx="26352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多步误差累积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" y="3283200"/>
            <a:ext cx="1980000" cy="5328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6400" y="3326400"/>
            <a:ext cx="18792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1">
                <a:solidFill>
                  <a:srgbClr val="242B34"/>
                </a:solidFill>
                <a:latin typeface="PingFang SC"/>
              </a:rPr>
              <a:t>Self-correction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6000" y="3283200"/>
            <a:ext cx="2951999" cy="5328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6400" y="3326400"/>
            <a:ext cx="28511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执行报错后让模型修复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17999" y="3283200"/>
            <a:ext cx="2951999" cy="5328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8399" y="3326400"/>
            <a:ext cx="2851199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提高可执行率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9998" y="3283200"/>
            <a:ext cx="2736000" cy="5328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0398" y="3326400"/>
            <a:ext cx="2635200" cy="46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90" b="0">
                <a:solidFill>
                  <a:srgbClr val="5B6876"/>
                </a:solidFill>
                <a:latin typeface="PingFang SC"/>
              </a:rPr>
              <a:t>容易修语法不修语义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3999" y="3870000"/>
            <a:ext cx="5292000" cy="1692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3999" y="3870000"/>
            <a:ext cx="43200" cy="1692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199" y="3992400"/>
            <a:ext cx="503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DIN-SQL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199" y="4273200"/>
            <a:ext cx="5032800" cy="123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5B6876"/>
                </a:solidFill>
                <a:latin typeface="PingFang SC"/>
              </a:rPr>
              <a:t>把任务分为 schema linking、query classification、SQL generation、self-correction 等子任务，说明 LLM 需要显式推理脚手架。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0000" y="3870000"/>
            <a:ext cx="5382000" cy="1692000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0000" y="3870000"/>
            <a:ext cx="43200" cy="1692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1200" y="3992400"/>
            <a:ext cx="512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DAIL-SQL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71200" y="4273200"/>
            <a:ext cx="5122800" cy="123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00" b="0">
                <a:solidFill>
                  <a:srgbClr val="5B6876"/>
                </a:solidFill>
                <a:latin typeface="PingFang SC"/>
              </a:rPr>
              <a:t>系统比较问题表示、示例选择、示例组织，强调 prompt token efficiency：不是越多越好，而是越相关越好。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资料来源：DIN-SQL arXiv:2304.11015；DAIL-SQL / benchmark evaluation arXiv:2308.15363。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LLM 方法二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RAG 与 Schema Pruning：大库里的第一性问题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620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0">
                <a:solidFill>
                  <a:srgbClr val="5B6876"/>
                </a:solidFill>
                <a:latin typeface="PingFang SC"/>
              </a:rPr>
              <a:t>当数据库有数百张表、数千列时，真正的任务首先是找上下文。Schema Linking 从模型内部注意力变成检索与排序问题。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800000"/>
            <a:ext cx="1908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800000"/>
            <a:ext cx="1908000" cy="2952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800" y="1868400"/>
            <a:ext cx="1778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400" y="2203200"/>
            <a:ext cx="1663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用户问题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会话上下文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0000" y="1800000"/>
            <a:ext cx="1908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0000" y="1800000"/>
            <a:ext cx="1908000" cy="2952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4800" y="1868400"/>
            <a:ext cx="1778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2400" y="2203200"/>
            <a:ext cx="1663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BM25 / embedding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业务词典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4000" y="1800000"/>
            <a:ext cx="1908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64000" y="1800000"/>
            <a:ext cx="1908000" cy="2952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8800" y="1868400"/>
            <a:ext cx="1778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Ranker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203200"/>
            <a:ext cx="1663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表列相关性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JOIN 可达性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58000" y="1800000"/>
            <a:ext cx="1908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58000" y="1800000"/>
            <a:ext cx="1908000" cy="2952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22800" y="1868400"/>
            <a:ext cx="1778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Sub-schema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0400" y="2203200"/>
            <a:ext cx="1663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候选表列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样例值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52000" y="1800000"/>
            <a:ext cx="1314000" cy="115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52000" y="1800000"/>
            <a:ext cx="1314000" cy="2952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16800" y="1868400"/>
            <a:ext cx="1184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74400" y="2203200"/>
            <a:ext cx="10692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生成</a:t>
            </a:r>
            <a:br/>
            <a:r>
              <a:rPr sz="1080" b="0">
                <a:solidFill>
                  <a:srgbClr val="5B6876"/>
                </a:solidFill>
                <a:latin typeface="PingFang SC"/>
              </a:rPr>
              <a:t>验证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84000" y="2376000"/>
            <a:ext cx="450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78000" y="2376000"/>
            <a:ext cx="450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72000" y="2376000"/>
            <a:ext cx="450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66000" y="2376000"/>
            <a:ext cx="450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22000" y="3618000"/>
            <a:ext cx="3491999" cy="1745999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2000" y="3618000"/>
            <a:ext cx="43200" cy="1745999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200" y="3740400"/>
            <a:ext cx="323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裁剪的收益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200" y="4021200"/>
            <a:ext cx="3232799" cy="1285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80" b="0">
                <a:solidFill>
                  <a:srgbClr val="5B6876"/>
                </a:solidFill>
                <a:latin typeface="PingFang SC"/>
              </a:rPr>
              <a:t>降低 token 成本；减少无关字段干扰；让模型更专注于少量可验证证据。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6000" y="3618000"/>
            <a:ext cx="3491999" cy="1745999"/>
          </a:xfrm>
          <a:prstGeom prst="roundRect">
            <a:avLst>
              <a:gd name="adj" fmla="val 8000"/>
            </a:avLst>
          </a:prstGeom>
          <a:solidFill>
            <a:srgbClr val="FDEFE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56000" y="3618000"/>
            <a:ext cx="43200" cy="1745999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200" y="3740400"/>
            <a:ext cx="323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裁剪的风险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200" y="4021200"/>
            <a:ext cx="3232799" cy="1285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80" b="0">
                <a:solidFill>
                  <a:srgbClr val="5B6876"/>
                </a:solidFill>
                <a:latin typeface="PingFang SC"/>
              </a:rPr>
              <a:t>一旦漏掉关键表/列，后续生成再强也难以恢复；需要召回优先、精排其次。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0000" y="3618000"/>
            <a:ext cx="3311999" cy="1745999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90000" y="3618000"/>
            <a:ext cx="43200" cy="1745999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1200" y="3740400"/>
            <a:ext cx="3052799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工程建议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1200" y="4021200"/>
            <a:ext cx="3052799" cy="1285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80" b="0">
                <a:solidFill>
                  <a:srgbClr val="5B6876"/>
                </a:solidFill>
                <a:latin typeface="PingFang SC"/>
              </a:rPr>
              <a:t>保留 top-k 证据、链接分数、JOIN path；允许模型请求补充 schema，而不是一次性闭卷。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LLM 方法三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多 Agent / 多候选：用测试时计算换可靠性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620000" cy="280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0">
                <a:solidFill>
                  <a:srgbClr val="5B6876"/>
                </a:solidFill>
                <a:latin typeface="PingFang SC"/>
              </a:rPr>
              <a:t>CHESS、MAC-SQL、CHASE-SQL 等方法把 Text-to-SQL 拆成多个角色：检索、schema 选择、候选生成、执行验证、偏好选择。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6000" y="1800000"/>
            <a:ext cx="1962000" cy="13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000" y="1800000"/>
            <a:ext cx="1962000" cy="2952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信息检索器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400" y="2203200"/>
            <a:ext cx="1717200" cy="90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找相关表列、样例值、文档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8000" y="2484000"/>
            <a:ext cx="25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00000" y="1800000"/>
            <a:ext cx="1962000" cy="13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00000" y="1800000"/>
            <a:ext cx="1962000" cy="2952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4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Schema Selector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2400" y="2203200"/>
            <a:ext cx="1717200" cy="90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压缩 schema，保留 join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62000" y="2484000"/>
            <a:ext cx="25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14000" y="1800000"/>
            <a:ext cx="1962000" cy="13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000" y="1800000"/>
            <a:ext cx="1962000" cy="2952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8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SQL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6400" y="2203200"/>
            <a:ext cx="1717200" cy="90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生成多条候选 SQL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76000" y="2484000"/>
            <a:ext cx="25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28000" y="1800000"/>
            <a:ext cx="1962000" cy="13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28000" y="1800000"/>
            <a:ext cx="1962000" cy="2952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2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Unit Tester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0400" y="2203200"/>
            <a:ext cx="1717200" cy="90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构造自然语言测试或执行检查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90000" y="2484000"/>
            <a:ext cx="252000" cy="0"/>
          </a:xfrm>
          <a:prstGeom prst="line">
            <a:avLst/>
          </a:prstGeom>
          <a:ln w="19050">
            <a:solidFill>
              <a:srgbClr val="889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342000" y="1800000"/>
            <a:ext cx="1962000" cy="13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42000" y="1800000"/>
            <a:ext cx="1962000" cy="2952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6800" y="1868400"/>
            <a:ext cx="1832400" cy="1368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ingFang SC"/>
              </a:rPr>
              <a:t>Selector / Refiner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400" y="2203200"/>
            <a:ext cx="1717200" cy="90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比较结果、修复错误、选最终答案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2000" y="3726000"/>
            <a:ext cx="5238000" cy="1638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2000" y="3726000"/>
            <a:ext cx="43200" cy="1638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200" y="3848400"/>
            <a:ext cx="49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何时值得多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200" y="4129200"/>
            <a:ext cx="4978800" cy="117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10" b="0">
                <a:solidFill>
                  <a:srgbClr val="5B6876"/>
                </a:solidFill>
                <a:latin typeface="PingFang SC"/>
              </a:rPr>
              <a:t>问题复杂、schema 很大、结果需要高置信度，或者有足够执行环境和预算时，多候选 + 验证比单次生成更稳。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0000" y="3726000"/>
            <a:ext cx="5382000" cy="1638000"/>
          </a:xfrm>
          <a:prstGeom prst="roundRect">
            <a:avLst>
              <a:gd name="adj" fmla="val 8000"/>
            </a:avLst>
          </a:prstGeom>
          <a:solidFill>
            <a:srgbClr val="FFF7E7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0000" y="3726000"/>
            <a:ext cx="43200" cy="1638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71200" y="3848400"/>
            <a:ext cx="512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何时不值得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1200" y="4129200"/>
            <a:ext cx="5122800" cy="117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10" b="0">
                <a:solidFill>
                  <a:srgbClr val="5B6876"/>
                </a:solidFill>
                <a:latin typeface="PingFang SC"/>
              </a:rPr>
              <a:t>低延迟、低成本、窄领域、高频简单查询，过多 agent 会增加成本、状态管理和调试复杂度。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资料来源：CHESS arXiv:2405.16755；MAC-SQL arXiv:2312.11242；CHASE-SQL arXiv:2410.01943。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评测体系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Benchmark 演进：评测压力越来越接近真实世界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170000"/>
            <a:ext cx="10619998" cy="29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170000"/>
            <a:ext cx="1620000" cy="594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000" y="1231200"/>
            <a:ext cx="15480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Benchmark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6000" y="1170000"/>
            <a:ext cx="2951999" cy="594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2000" y="1231200"/>
            <a:ext cx="28799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特点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7999" y="1170000"/>
            <a:ext cx="3096000" cy="594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3999" y="1231200"/>
            <a:ext cx="30240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推动的能力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3999" y="1170000"/>
            <a:ext cx="2951999" cy="5940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9999" y="1231200"/>
            <a:ext cx="28799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局限/启示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" y="1764000"/>
            <a:ext cx="1620000" cy="594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00" y="1807200"/>
            <a:ext cx="15192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242B34"/>
                </a:solidFill>
                <a:latin typeface="PingFang SC"/>
              </a:rPr>
              <a:t>WikiSQL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6000" y="1764000"/>
            <a:ext cx="2951999" cy="594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56400" y="1807200"/>
            <a:ext cx="28511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单表、较简单 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7999" y="1764000"/>
            <a:ext cx="3096000" cy="594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8399" y="1807200"/>
            <a:ext cx="29952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结构化解码、列注意力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999" y="1764000"/>
            <a:ext cx="2951999" cy="594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4399" y="1807200"/>
            <a:ext cx="28511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覆盖复杂 JOIN 不足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0" y="2358000"/>
            <a:ext cx="1620000" cy="594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400" y="2401200"/>
            <a:ext cx="15192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242B34"/>
                </a:solidFill>
                <a:latin typeface="PingFang SC"/>
              </a:rPr>
              <a:t>Spider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6000" y="2358000"/>
            <a:ext cx="2951999" cy="594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56400" y="2401200"/>
            <a:ext cx="28511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跨域、多表、复杂 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57999" y="2358000"/>
            <a:ext cx="3096000" cy="594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08399" y="2401200"/>
            <a:ext cx="29952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schema 泛化、结构链接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3999" y="2358000"/>
            <a:ext cx="2951999" cy="594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4399" y="2401200"/>
            <a:ext cx="28511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数据规模和真实值复杂度有限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" y="2952000"/>
            <a:ext cx="1620000" cy="594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400" y="2995200"/>
            <a:ext cx="15192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242B34"/>
                </a:solidFill>
                <a:latin typeface="PingFang SC"/>
              </a:rPr>
              <a:t>BIRD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6000" y="2952000"/>
            <a:ext cx="2951999" cy="594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56400" y="2995200"/>
            <a:ext cx="28511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大数据库、真实值、37 专业领域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57999" y="2952000"/>
            <a:ext cx="3096000" cy="594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08399" y="2995200"/>
            <a:ext cx="29952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值理解、外部知识、SQL 效率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3999" y="2952000"/>
            <a:ext cx="2951999" cy="5940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4399" y="2995200"/>
            <a:ext cx="28511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更贴近生产，但仍是任务集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" y="3546000"/>
            <a:ext cx="1620000" cy="594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6400" y="3589200"/>
            <a:ext cx="15192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1">
                <a:solidFill>
                  <a:srgbClr val="242B34"/>
                </a:solidFill>
                <a:latin typeface="PingFang SC"/>
              </a:rPr>
              <a:t>Spider 2.0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6000" y="3546000"/>
            <a:ext cx="2951999" cy="594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56400" y="3589200"/>
            <a:ext cx="28511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企业级工作流、千列级 schema、多方言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57999" y="3546000"/>
            <a:ext cx="3096000" cy="594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08399" y="3589200"/>
            <a:ext cx="2995200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长上下文、文档检索、代码/环境交互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53999" y="3546000"/>
            <a:ext cx="2951999" cy="5940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04399" y="3589200"/>
            <a:ext cx="2851199" cy="52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80" b="0">
                <a:solidFill>
                  <a:srgbClr val="5B6876"/>
                </a:solidFill>
                <a:latin typeface="PingFang SC"/>
              </a:rPr>
              <a:t>对 agent 和工程系统提出新要求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2000" y="4140000"/>
            <a:ext cx="10800000" cy="28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40" b="1">
                <a:solidFill>
                  <a:srgbClr val="12202F"/>
                </a:solidFill>
                <a:latin typeface="PingFang SC"/>
              </a:rPr>
              <a:t>注意：Leaderboards 不等于生产可用。企业落地还要评估权限、数据新鲜度、成本、延迟、可解释性、审计和错误恢复。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22000" y="4608000"/>
            <a:ext cx="10980000" cy="93600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2000" y="4608000"/>
            <a:ext cx="43200" cy="936000"/>
          </a:xfrm>
          <a:prstGeom prst="rect">
            <a:avLst/>
          </a:prstGeom>
          <a:solidFill>
            <a:srgbClr val="74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3200" y="4730400"/>
            <a:ext cx="1072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Spider 2.0 的信号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3200" y="5011200"/>
            <a:ext cx="10720800" cy="47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10" b="0">
                <a:solidFill>
                  <a:srgbClr val="5B6876"/>
                </a:solidFill>
                <a:latin typeface="PingFang SC"/>
              </a:rPr>
              <a:t>真实企业任务常需要查文档、理解项目代码、处理多 SQL 和方言差异；这意味着 Text-to-SQL 正在从单轮生成题变成数据工程 agent 题。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资料来源：WikiSQL、Spider arXiv:1809.08887；BIRD arXiv:2305.03111；Spider 2.0 arXiv:2411.07763。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失败模式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错误类型：Schema Linking 错了，SQL 往往看起来也很对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134000"/>
            <a:ext cx="10620000" cy="328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134000"/>
            <a:ext cx="1800000" cy="5472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000" y="1195200"/>
            <a:ext cx="17280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错误类型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34000"/>
            <a:ext cx="2880000" cy="5472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000" y="1195200"/>
            <a:ext cx="28080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表象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000" y="1134000"/>
            <a:ext cx="2880000" cy="5472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2000" y="1195200"/>
            <a:ext cx="28080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根因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000" y="1134000"/>
            <a:ext cx="3060000" cy="547200"/>
          </a:xfrm>
          <a:prstGeom prst="rect">
            <a:avLst/>
          </a:prstGeom>
          <a:solidFill>
            <a:srgbClr val="12202F"/>
          </a:solidFill>
          <a:ln>
            <a:solidFill>
              <a:srgbClr val="1220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2000" y="1195200"/>
            <a:ext cx="29880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PingFang SC"/>
              </a:rPr>
              <a:t>缓解策略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" y="1681200"/>
            <a:ext cx="180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400" y="1724400"/>
            <a:ext cx="169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1">
                <a:solidFill>
                  <a:srgbClr val="242B34"/>
                </a:solidFill>
                <a:latin typeface="PingFang SC"/>
              </a:rPr>
              <a:t>Wrong Column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681200"/>
            <a:ext cx="288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6400" y="17244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执行成功但指标不对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000" y="1681200"/>
            <a:ext cx="288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6400" y="17244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字段同义、缩写、业务口径相近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000" y="1681200"/>
            <a:ext cx="306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6400" y="1724400"/>
            <a:ext cx="295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列注释、glossary、历史查询、人工标注链接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000" y="2228400"/>
            <a:ext cx="1800000" cy="5472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400" y="2271600"/>
            <a:ext cx="169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1">
                <a:solidFill>
                  <a:srgbClr val="242B34"/>
                </a:solidFill>
                <a:latin typeface="PingFang SC"/>
              </a:rPr>
              <a:t>Wrong Join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228400"/>
            <a:ext cx="2880000" cy="5472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6400" y="22716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结果重复或漏数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000" y="2228400"/>
            <a:ext cx="2880000" cy="5472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6400" y="22716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join path 选择错误、桥表遗漏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000" y="2228400"/>
            <a:ext cx="3060000" cy="5472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6400" y="2271600"/>
            <a:ext cx="295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FK 图搜索、基数检查、结果 sanity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6000" y="2775600"/>
            <a:ext cx="180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6400" y="2818800"/>
            <a:ext cx="169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1">
                <a:solidFill>
                  <a:srgbClr val="242B34"/>
                </a:solidFill>
                <a:latin typeface="PingFang SC"/>
              </a:rPr>
              <a:t>Wrong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775600"/>
            <a:ext cx="288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6400" y="28188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过滤条件找不到或误匹配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66000" y="2775600"/>
            <a:ext cx="288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6400" y="28188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值别名、大小写、脏数据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000" y="2775600"/>
            <a:ext cx="306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6400" y="2818800"/>
            <a:ext cx="295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值检索、模糊匹配、样例值提示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" y="3322800"/>
            <a:ext cx="1800000" cy="5472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6400" y="3366000"/>
            <a:ext cx="169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1">
                <a:solidFill>
                  <a:srgbClr val="242B34"/>
                </a:solidFill>
                <a:latin typeface="PingFang SC"/>
              </a:rPr>
              <a:t>Wrong Aggregation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3322800"/>
            <a:ext cx="2880000" cy="5472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6400" y="33660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SUM/COUNT/AVG 搞错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6000" y="3322800"/>
            <a:ext cx="2880000" cy="5472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6400" y="33660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问题词到操作符链接不足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000" y="3322800"/>
            <a:ext cx="3060000" cy="547200"/>
          </a:xfrm>
          <a:prstGeom prst="rect">
            <a:avLst/>
          </a:prstGeom>
          <a:solidFill>
            <a:srgbClr val="F7FAFD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6400" y="3366000"/>
            <a:ext cx="295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IR sketch、操作符分类、单元测试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6000" y="3870000"/>
            <a:ext cx="180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6400" y="3913200"/>
            <a:ext cx="169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1">
                <a:solidFill>
                  <a:srgbClr val="242B34"/>
                </a:solidFill>
                <a:latin typeface="PingFang SC"/>
              </a:rPr>
              <a:t>Wrong Time Window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3870000"/>
            <a:ext cx="288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6400" y="39132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日期范围偏移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66000" y="3870000"/>
            <a:ext cx="288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6400" y="3913200"/>
            <a:ext cx="277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相对时间、财年、时区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000" y="3870000"/>
            <a:ext cx="3060000" cy="547200"/>
          </a:xfrm>
          <a:prstGeom prst="rect">
            <a:avLst/>
          </a:prstGeom>
          <a:solidFill>
            <a:srgbClr val="FCFEFF"/>
          </a:solidFill>
          <a:ln w="762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6400" y="3913200"/>
            <a:ext cx="2959200" cy="482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0000"/>
              </a:lnSpc>
            </a:pPr>
            <a:r>
              <a:rPr sz="850" b="0">
                <a:solidFill>
                  <a:srgbClr val="5B6876"/>
                </a:solidFill>
                <a:latin typeface="PingFang SC"/>
              </a:rPr>
              <a:t>日期解析器、业务日历、执行前确认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22000" y="4446000"/>
            <a:ext cx="10980000" cy="1152000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2000" y="4446000"/>
            <a:ext cx="43200" cy="1152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3200" y="4568400"/>
            <a:ext cx="1072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独立判断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3200" y="4849200"/>
            <a:ext cx="10720800" cy="691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60" b="0">
                <a:solidFill>
                  <a:srgbClr val="5B6876"/>
                </a:solidFill>
                <a:latin typeface="PingFang SC"/>
              </a:rPr>
              <a:t>未来高质量 Text-to-SQL 系统的核心日志不应只记录 prompt 和 SQL，还应记录“链接证据链”：为什么选这些表列、排除了哪些候选、值是如何匹配的、执行验证通过了什么。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落地方案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生产级架构：把 Schema Linking 做成可治理层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2000" y="1278000"/>
            <a:ext cx="2592000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000" y="1278000"/>
            <a:ext cx="43200" cy="846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200" y="1400400"/>
            <a:ext cx="233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2202F"/>
                </a:solidFill>
                <a:latin typeface="PingFang SC"/>
              </a:rPr>
              <a:t>数据资产层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200" y="1681200"/>
            <a:ext cx="2332800" cy="38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schema registry / lineage / glossary / permissions / sample values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68000" y="1702800"/>
            <a:ext cx="432000" cy="0"/>
          </a:xfrm>
          <a:prstGeom prst="line">
            <a:avLst/>
          </a:prstGeom>
          <a:ln w="15240">
            <a:solidFill>
              <a:srgbClr val="A0A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4000" y="1278000"/>
            <a:ext cx="7830000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4000" y="1278000"/>
            <a:ext cx="43200" cy="846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5200" y="1400400"/>
            <a:ext cx="757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60" b="1">
                <a:solidFill>
                  <a:srgbClr val="12202F"/>
                </a:solidFill>
                <a:latin typeface="PingFang SC"/>
              </a:rPr>
              <a:t>关键产物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5200" y="1681200"/>
            <a:ext cx="7570800" cy="38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统一元数据、字段说明、数据血缘、权限标签、敏感字段标记、代表性值样本。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2000" y="2394000"/>
            <a:ext cx="2592000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2000" y="2394000"/>
            <a:ext cx="43200" cy="846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200" y="2516400"/>
            <a:ext cx="233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2202F"/>
                </a:solidFill>
                <a:latin typeface="PingFang SC"/>
              </a:rPr>
              <a:t>链接层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200" y="2797200"/>
            <a:ext cx="2332800" cy="38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retrieval / ranking / value linking / join graph / evidence store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68000" y="2818800"/>
            <a:ext cx="432000" cy="0"/>
          </a:xfrm>
          <a:prstGeom prst="line">
            <a:avLst/>
          </a:prstGeom>
          <a:ln w="15240">
            <a:solidFill>
              <a:srgbClr val="A0A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4000" y="2394000"/>
            <a:ext cx="7830000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4000" y="2394000"/>
            <a:ext cx="43200" cy="846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5200" y="2516400"/>
            <a:ext cx="757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60" b="1">
                <a:solidFill>
                  <a:srgbClr val="12202F"/>
                </a:solidFill>
                <a:latin typeface="PingFang SC"/>
              </a:rPr>
              <a:t>关键产物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5200" y="2797200"/>
            <a:ext cx="7570800" cy="38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候选 schema、链接分数、join path、值匹配证据、被排除候选及原因。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2000" y="3510000"/>
            <a:ext cx="2592000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2000" y="3510000"/>
            <a:ext cx="43200" cy="846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200" y="3632400"/>
            <a:ext cx="233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2202F"/>
                </a:solidFill>
                <a:latin typeface="PingFang SC"/>
              </a:rPr>
              <a:t>生成层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200" y="3913200"/>
            <a:ext cx="2332800" cy="38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planner / SQL generator / dialect adapter / constrained decoder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68000" y="3934800"/>
            <a:ext cx="432000" cy="0"/>
          </a:xfrm>
          <a:prstGeom prst="line">
            <a:avLst/>
          </a:prstGeom>
          <a:ln w="15240">
            <a:solidFill>
              <a:srgbClr val="A0A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654000" y="3510000"/>
            <a:ext cx="7830000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4000" y="3510000"/>
            <a:ext cx="43200" cy="846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5200" y="3632400"/>
            <a:ext cx="757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60" b="1">
                <a:solidFill>
                  <a:srgbClr val="12202F"/>
                </a:solidFill>
                <a:latin typeface="PingFang SC"/>
              </a:rPr>
              <a:t>关键产物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5200" y="3913200"/>
            <a:ext cx="7570800" cy="38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SQL 草案、查询计划、方言转换、参数化过滤条件、候选集合。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2000" y="4626000"/>
            <a:ext cx="2592000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2000" y="4626000"/>
            <a:ext cx="43200" cy="846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200" y="4748400"/>
            <a:ext cx="233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350" b="1">
                <a:solidFill>
                  <a:srgbClr val="12202F"/>
                </a:solidFill>
                <a:latin typeface="PingFang SC"/>
              </a:rPr>
              <a:t>验证层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200" y="5029200"/>
            <a:ext cx="2332800" cy="38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980" b="0">
                <a:solidFill>
                  <a:srgbClr val="5B6876"/>
                </a:solidFill>
                <a:latin typeface="PingFang SC"/>
              </a:rPr>
              <a:t>sandbox execution / cost guard / result tests / policy check / audit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68000" y="5050800"/>
            <a:ext cx="432000" cy="0"/>
          </a:xfrm>
          <a:prstGeom prst="line">
            <a:avLst/>
          </a:prstGeom>
          <a:ln w="15240">
            <a:solidFill>
              <a:srgbClr val="A0A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654000" y="4626000"/>
            <a:ext cx="7830000" cy="84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4000" y="4626000"/>
            <a:ext cx="43200" cy="846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05200" y="4748400"/>
            <a:ext cx="757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260" b="1">
                <a:solidFill>
                  <a:srgbClr val="12202F"/>
                </a:solidFill>
                <a:latin typeface="PingFang SC"/>
              </a:rPr>
              <a:t>关键产物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5200" y="5029200"/>
            <a:ext cx="7570800" cy="385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080" b="0">
                <a:solidFill>
                  <a:srgbClr val="5B6876"/>
                </a:solidFill>
                <a:latin typeface="PingFang SC"/>
              </a:rPr>
              <a:t>执行结果摘要、错误信息、空结果诊断、成本估计、审计日志和人类确认记录。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5813999"/>
            <a:ext cx="10728000" cy="28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工程原则：不要把数据库语义永久藏在 prompt 里；它应该是可版本化、可测试、可审计的系统资产。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设计原则：让 LLM 少猜，让系统多给证据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296000"/>
            <a:ext cx="3438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296000"/>
            <a:ext cx="43200" cy="1620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418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召回优先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200" y="1699200"/>
            <a:ext cx="3178800" cy="11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schema pruning 先保证关键表列不漏，再用排序控制噪声。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2000" y="1296000"/>
            <a:ext cx="3438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2000" y="1296000"/>
            <a:ext cx="43200" cy="1620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3200" y="1418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证据可追踪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3200" y="1699200"/>
            <a:ext cx="3178800" cy="11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每个 SQL 片段都能回溯到问题词、字段说明、样例值或业务规则。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8000" y="1296000"/>
            <a:ext cx="3438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8000" y="1296000"/>
            <a:ext cx="43200" cy="1620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9200" y="1418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执行隔离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9200" y="1699200"/>
            <a:ext cx="3178800" cy="11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只在沙箱或只读副本执行，设置超时、成本、行数与权限限制。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000" y="3258000"/>
            <a:ext cx="3438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6000" y="3258000"/>
            <a:ext cx="43200" cy="1620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200" y="3380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多层验证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200" y="3661200"/>
            <a:ext cx="3178800" cy="11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语法、类型、执行、结果形状、业务单元测试分层检查。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2000" y="3258000"/>
            <a:ext cx="3438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12000" y="3258000"/>
            <a:ext cx="43200" cy="1620000"/>
          </a:xfrm>
          <a:prstGeom prst="rect">
            <a:avLst/>
          </a:prstGeom>
          <a:solidFill>
            <a:srgbClr val="74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3200" y="3380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人机协同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3200" y="3661200"/>
            <a:ext cx="3178800" cy="11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高风险查询让用户确认链接意图，而不是让模型自信地错。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8000" y="3258000"/>
            <a:ext cx="3438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8000" y="3258000"/>
            <a:ext cx="43200" cy="16200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9200" y="3380400"/>
            <a:ext cx="3178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持续学习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9200" y="3661200"/>
            <a:ext cx="3178800" cy="11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40" b="0">
                <a:solidFill>
                  <a:srgbClr val="5B6876"/>
                </a:solidFill>
                <a:latin typeface="PingFang SC"/>
              </a:rPr>
              <a:t>把人工修正沉淀为 glossary、few-shot、单元测试和回归集。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999" y="5472000"/>
            <a:ext cx="10728000" cy="28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一句话：高可靠 Text-to-SQL 不是让模型更“会说”，而是让它在更小、更准、更可验证的语义空间里行动。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趋势判断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未来趋势：Text-to-SQL 会变成 Data Agent 的一部分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6000" y="1170000"/>
            <a:ext cx="5202000" cy="131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6000" y="1170000"/>
            <a:ext cx="43200" cy="1314000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200" y="1292400"/>
            <a:ext cx="494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从 SQL 到工作流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200" y="1573200"/>
            <a:ext cx="4942800" cy="85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真实问题常需要多步查询、临时表、数据清洗、可视化和报告生成。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4000" y="1170000"/>
            <a:ext cx="5202000" cy="131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4000" y="1170000"/>
            <a:ext cx="43200" cy="1314000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5200" y="1292400"/>
            <a:ext cx="494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从 schema 到语义层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5200" y="1573200"/>
            <a:ext cx="4942800" cy="85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指标口径、维度层级、业务规则会进入 semantic layer，LLM 只消费受控语义对象。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000" y="2772000"/>
            <a:ext cx="5202000" cy="131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6000" y="2772000"/>
            <a:ext cx="43200" cy="13140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200" y="2894400"/>
            <a:ext cx="494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从静态 prompt 到交互式检索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00" y="3175200"/>
            <a:ext cx="4942800" cy="85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模型可以主动请求更多元数据、样例值、文档和用户澄清。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4000" y="2772000"/>
            <a:ext cx="5202000" cy="131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4000" y="2772000"/>
            <a:ext cx="43200" cy="1314000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5200" y="2894400"/>
            <a:ext cx="494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从准确率到治理指标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5200" y="3175200"/>
            <a:ext cx="4942800" cy="85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可解释、合规、成本、延迟、审计、回归稳定性会与准确率同等重要。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000" y="4374000"/>
            <a:ext cx="5202000" cy="131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000" y="4374000"/>
            <a:ext cx="43200" cy="1314000"/>
          </a:xfrm>
          <a:prstGeom prst="rect">
            <a:avLst/>
          </a:prstGeom>
          <a:solidFill>
            <a:srgbClr val="745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00" y="4496400"/>
            <a:ext cx="494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从单模型到组合系统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00" y="4777200"/>
            <a:ext cx="4942800" cy="85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小模型做检索/排序，大模型做推理，规则和执行器做约束。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4000" y="4374000"/>
            <a:ext cx="5202000" cy="131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4000" y="4374000"/>
            <a:ext cx="43200" cy="1314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5200" y="4496400"/>
            <a:ext cx="4942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从答案到信任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5200" y="4777200"/>
            <a:ext cx="4942800" cy="85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0">
                <a:solidFill>
                  <a:srgbClr val="5B6876"/>
                </a:solidFill>
                <a:latin typeface="PingFang SC"/>
              </a:rPr>
              <a:t>系统要输出 SQL、结果，也要输出置信度、证据链和可复核路径。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总结：Schema Linking 是 LLM Text-to-SQL 的可靠性中枢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3999" y="1206000"/>
            <a:ext cx="10980000" cy="917999"/>
          </a:xfrm>
          <a:prstGeom prst="roundRect">
            <a:avLst>
              <a:gd name="adj" fmla="val 8000"/>
            </a:avLst>
          </a:prstGeom>
          <a:solidFill>
            <a:srgbClr val="EBF4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999" y="1206000"/>
            <a:ext cx="43200" cy="917999"/>
          </a:xfrm>
          <a:prstGeom prst="rect">
            <a:avLst/>
          </a:prstGeom>
          <a:solidFill>
            <a:srgbClr val="246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99" y="1328400"/>
            <a:ext cx="1072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1. 技术主线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99" y="1609200"/>
            <a:ext cx="10720800" cy="457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从规则映射、结构化解码、关系图编码，到 LLM + RAG + agent，演进方向始终围绕“如何把语言稳定绑定到数据结构”。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2394000"/>
            <a:ext cx="10980000" cy="917999"/>
          </a:xfrm>
          <a:prstGeom prst="roundRect">
            <a:avLst>
              <a:gd name="adj" fmla="val 8000"/>
            </a:avLst>
          </a:prstGeom>
          <a:solidFill>
            <a:srgbClr val="EDF8F2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3999" y="2394000"/>
            <a:ext cx="43200" cy="917999"/>
          </a:xfrm>
          <a:prstGeom prst="rect">
            <a:avLst/>
          </a:prstGeom>
          <a:solidFill>
            <a:srgbClr val="328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199" y="2516400"/>
            <a:ext cx="1072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2. 核心转折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199" y="2797200"/>
            <a:ext cx="10720800" cy="457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Spider 让跨 schema 泛化成为核心问题；BIRD 和 Spider 2.0 进一步暴露真实值、业务知识、超大 schema 与工作流复杂性。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999" y="3581999"/>
            <a:ext cx="10980000" cy="917999"/>
          </a:xfrm>
          <a:prstGeom prst="roundRect">
            <a:avLst>
              <a:gd name="adj" fmla="val 8000"/>
            </a:avLst>
          </a:prstGeom>
          <a:solidFill>
            <a:srgbClr val="FFF7E7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999" y="3581999"/>
            <a:ext cx="43200" cy="917999"/>
          </a:xfrm>
          <a:prstGeom prst="rect">
            <a:avLst/>
          </a:prstGeom>
          <a:solidFill>
            <a:srgbClr val="DA9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99" y="3704399"/>
            <a:ext cx="1072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3. LLM 的正确用法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99" y="3985199"/>
            <a:ext cx="10720800" cy="457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不要把 LLM 当唯一解析器，而要把它放在可检索、可裁剪、可约束、可验证、可审计的系统中。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999" y="4770000"/>
            <a:ext cx="10980000" cy="917999"/>
          </a:xfrm>
          <a:prstGeom prst="roundRect">
            <a:avLst>
              <a:gd name="adj" fmla="val 8000"/>
            </a:avLst>
          </a:prstGeom>
          <a:solidFill>
            <a:srgbClr val="FDEFE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999" y="4770000"/>
            <a:ext cx="43200" cy="917999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99" y="4892400"/>
            <a:ext cx="10720800" cy="2304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20" b="1">
                <a:solidFill>
                  <a:srgbClr val="12202F"/>
                </a:solidFill>
                <a:latin typeface="PingFang SC"/>
              </a:rPr>
              <a:t>4. 落地判断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99" y="5173200"/>
            <a:ext cx="10720800" cy="457199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8000"/>
              </a:lnSpc>
            </a:pPr>
            <a:r>
              <a:rPr sz="1320" b="0">
                <a:solidFill>
                  <a:srgbClr val="5B6876"/>
                </a:solidFill>
                <a:latin typeface="PingFang SC"/>
              </a:rPr>
              <a:t>生产系统优先建设元数据治理、schema linking 证据链、执行沙箱和回归评测；模型升级只是其中一环。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资料来源：Spider、WikiSQL、RAT-SQL、PICARD、BIRD、Spider 2.0、DIN-SQL、DAIL-SQL、CHESS 等论文与 benchmark；整理见末页。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0000" y="259200"/>
            <a:ext cx="4860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1">
                <a:solidFill>
                  <a:srgbClr val="246BC9"/>
                </a:solidFill>
                <a:latin typeface="PingFang SC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424800"/>
            <a:ext cx="9900000" cy="3780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2202F"/>
                </a:solidFill>
                <a:latin typeface="PingFang SC"/>
              </a:rPr>
              <a:t>主要参考资料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200" y="871200"/>
            <a:ext cx="810000" cy="28800"/>
          </a:xfrm>
          <a:prstGeom prst="rect">
            <a:avLst/>
          </a:prstGeom>
          <a:solidFill>
            <a:srgbClr val="229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134000"/>
            <a:ext cx="11088000" cy="4608000"/>
          </a:xfrm>
          <a:prstGeom prst="rect">
            <a:avLst/>
          </a:prstGeom>
          <a:noFill/>
        </p:spPr>
        <p:txBody>
          <a:bodyPr wrap="square" lIns="36000" rIns="36000" tIns="7200" bIns="720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Zhong et al., Seq2SQL: Generating Structured Queries from Natural Language using Reinforcement Learning, 2017.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Xu et al., SQLNet: Generating Structured Queries From Natural Language Without Reinforcement Learning, arXiv:1711.04436.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Yu et al., Spider: A Large-Scale Human-Labeled Dataset for Complex and Cross-Domain Semantic Parsing and Text-to-SQL Task, arXiv:1809.08887.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Guo et al., Towards Complex Text-to-SQL in Cross-Domain Database with Intermediate Representation, arXiv:1905.08205.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Wang et al., RAT-SQL: Relation-Aware Schema Encoding and Linking for Text-to-SQL Parsers, arXiv:1911.04942.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Scholak et al., PICARD: Parsing Incrementally for Constrained Auto-Regressive Decoding from Language Models, arXiv:2109.05093.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Li et al., RESDSQL: Decoupling Schema Linking and Skeleton Parsing for Text-to-SQL, arXiv:2302.05965.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Pourreza &amp; Rafiei, DIN-SQL: Decomposed In-Context Learning of Text-to-SQL with Self-Correction, arXiv:2304.11015.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Li et al., BIRD: A Big Bench for Large-Scale Database Grounded Text-to-SQLs, arXiv:2305.03111.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Gao et al., Text-to-SQL Empowered by Large Language Models: A Benchmark Evaluation / DAIL-SQL, arXiv:2308.15363.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Wang et al., MAC-SQL: A Multi-Agent Collaborative Framework for Text-to-SQL, arXiv:2312.11242.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Talaei et al., CHESS: Contextual Harnessing for Efficient SQL Synthesis, arXiv:2405.16755.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Pourreza et al., CHASE-SQL: Multi-Path Reasoning and Preference Optimized Candidate Selection in Text-to-SQL, arXiv:2410.01943.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940">
                <a:solidFill>
                  <a:srgbClr val="242B34"/>
                </a:solidFill>
                <a:latin typeface="PingFang SC"/>
              </a:rPr>
              <a:t>• Lei et al., Spider 2.0: Evaluating Language Models on Real-World Enterprise Text-to-SQL Workflows, arXiv:2411.07763.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5850000"/>
            <a:ext cx="10800000" cy="259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 b="0">
                <a:solidFill>
                  <a:srgbClr val="828F9C"/>
                </a:solidFill>
                <a:latin typeface="PingFang SC"/>
              </a:rPr>
              <a:t>注：本稿未直接复用论文图表，所有流程图和框架图均为基于文献整理后的原创示意。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78000" y="6429600"/>
            <a:ext cx="11448000" cy="7200"/>
          </a:xfrm>
          <a:prstGeom prst="rect">
            <a:avLst/>
          </a:prstGeom>
          <a:solidFill>
            <a:srgbClr val="D3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8000" y="6490800"/>
            <a:ext cx="10440000" cy="223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>
              <a:lnSpc>
                <a:spcPct val="105000"/>
              </a:lnSpc>
            </a:pPr>
            <a:r>
              <a:rPr sz="640" b="0">
                <a:solidFill>
                  <a:srgbClr val="6E7A86"/>
                </a:solidFill>
                <a:latin typeface="PingFang SC"/>
              </a:rPr>
              <a:t>资料来源：上述公开论文、arXiv 摘要页和 benchmark 项目页。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8000" y="6480000"/>
            <a:ext cx="432000" cy="187200"/>
          </a:xfrm>
          <a:prstGeom prst="rect">
            <a:avLst/>
          </a:prstGeom>
          <a:noFill/>
        </p:spPr>
        <p:txBody>
          <a:bodyPr wrap="square" lIns="43200" rIns="43200" tIns="14400" bIns="1440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828F9C"/>
                </a:solidFill>
                <a:latin typeface="PingFang SC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